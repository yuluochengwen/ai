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4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7" r:id="rId10"/>
    <p:sldId id="288" r:id="rId11"/>
    <p:sldId id="289" r:id="rId12"/>
    <p:sldId id="263" r:id="rId13"/>
    <p:sldId id="264" r:id="rId14"/>
    <p:sldId id="293" r:id="rId15"/>
    <p:sldId id="294" r:id="rId16"/>
    <p:sldId id="265" r:id="rId17"/>
    <p:sldId id="266" r:id="rId18"/>
    <p:sldId id="284" r:id="rId19"/>
    <p:sldId id="286" r:id="rId20"/>
    <p:sldId id="290" r:id="rId21"/>
    <p:sldId id="267" r:id="rId22"/>
    <p:sldId id="268" r:id="rId23"/>
    <p:sldId id="269" r:id="rId24"/>
    <p:sldId id="270" r:id="rId25"/>
    <p:sldId id="271" r:id="rId26"/>
    <p:sldId id="272" r:id="rId27"/>
    <p:sldId id="285" r:id="rId28"/>
    <p:sldId id="273" r:id="rId29"/>
    <p:sldId id="274" r:id="rId30"/>
    <p:sldId id="275" r:id="rId31"/>
    <p:sldId id="276" r:id="rId32"/>
    <p:sldId id="291" r:id="rId33"/>
    <p:sldId id="292" r:id="rId34"/>
    <p:sldId id="277" r:id="rId35"/>
    <p:sldId id="278" r:id="rId36"/>
    <p:sldId id="279" r:id="rId37"/>
    <p:sldId id="280" r:id="rId38"/>
    <p:sldId id="281" r:id="rId39"/>
    <p:sldId id="282" r:id="rId40"/>
    <p:sldId id="283" r:id="rId41"/>
  </p:sldIdLst>
  <p:sldSz cx="12192000" cy="6858000"/>
  <p:notesSz cx="6858000" cy="12192000"/>
  <p:embeddedFontLst>
    <p:embeddedFont>
      <p:font typeface="MiSans" panose="02010600030101010101" charset="-122"/>
      <p:regular r:id="rId43"/>
    </p:embeddedFont>
    <p:embeddedFont>
      <p:font typeface="等线" panose="02010600030101010101" pitchFamily="2" charset="-122"/>
      <p:regular r:id="rId44"/>
      <p:bold r:id="rId4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31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5054-7E2C-24BF-09D5-F0DB1DFC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7C4CC-0D6B-1FDF-315B-63EC1AB33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1E73A-377C-A132-33D6-8403F3AA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4DB83-1D68-D996-0EC7-615793881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6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3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4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45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9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8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slideLayout" Target="../slideLayouts/slideLayout3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1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26" Type="http://schemas.openxmlformats.org/officeDocument/2006/relationships/image" Target="../media/image23.png"/><Relationship Id="rId3" Type="http://schemas.openxmlformats.org/officeDocument/2006/relationships/tags" Target="../tags/tag26.xml"/><Relationship Id="rId21" Type="http://schemas.openxmlformats.org/officeDocument/2006/relationships/tags" Target="../tags/tag44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image" Target="../media/image22.png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0" Type="http://schemas.openxmlformats.org/officeDocument/2006/relationships/tags" Target="../tags/tag43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24" Type="http://schemas.openxmlformats.org/officeDocument/2006/relationships/slideLayout" Target="../slideLayouts/slideLayout3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10" Type="http://schemas.openxmlformats.org/officeDocument/2006/relationships/tags" Target="../tags/tag33.xml"/><Relationship Id="rId19" Type="http://schemas.openxmlformats.org/officeDocument/2006/relationships/tags" Target="../tags/tag42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tags" Target="../tags/tag45.xml"/><Relationship Id="rId27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16-d0shos475iks832je3og.png"/>
          <p:cNvPicPr>
            <a:picLocks noChangeAspect="1"/>
          </p:cNvPicPr>
          <p:nvPr/>
        </p:nvPicPr>
        <p:blipFill>
          <a:blip r:embed="rId3"/>
          <a:srcRect l="10" r="10"/>
          <a:stretch/>
        </p:blipFill>
        <p:spPr>
          <a:xfrm>
            <a:off x="1200" y="0"/>
            <a:ext cx="12189600" cy="686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615" y="4553585"/>
            <a:ext cx="191897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95415" y="4553585"/>
            <a:ext cx="191897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时间:2025.01.01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32305" y="2097405"/>
            <a:ext cx="8327390" cy="1936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通用疾病预测与落地应用答辩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061085" y="3337794"/>
            <a:ext cx="293611" cy="293736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3" name="Text 1"/>
          <p:cNvSpPr/>
          <p:nvPr/>
        </p:nvSpPr>
        <p:spPr>
          <a:xfrm rot="5400000">
            <a:off x="1061085" y="3337794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1174012" y="3450769"/>
            <a:ext cx="293611" cy="293736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5" name="Text 3"/>
          <p:cNvSpPr/>
          <p:nvPr/>
        </p:nvSpPr>
        <p:spPr>
          <a:xfrm rot="5400000">
            <a:off x="1174012" y="3450769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47802" y="3308985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1487" y="3336664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项目概览与目标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1061085" y="4249614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9" name="Text 7"/>
          <p:cNvSpPr/>
          <p:nvPr/>
        </p:nvSpPr>
        <p:spPr>
          <a:xfrm rot="5400000">
            <a:off x="1061085" y="424961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74012" y="4362434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11" name="Text 9"/>
          <p:cNvSpPr/>
          <p:nvPr/>
        </p:nvSpPr>
        <p:spPr>
          <a:xfrm rot="5400000">
            <a:off x="1174012" y="436243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7802" y="4220845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1487" y="424848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数据与问题定义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1061085" y="516083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15" name="Text 13"/>
          <p:cNvSpPr/>
          <p:nvPr/>
        </p:nvSpPr>
        <p:spPr>
          <a:xfrm rot="5400000">
            <a:off x="1061085" y="516083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1174012" y="527365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17" name="Text 15"/>
          <p:cNvSpPr/>
          <p:nvPr/>
        </p:nvSpPr>
        <p:spPr>
          <a:xfrm rot="5400000">
            <a:off x="1174012" y="527365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47802" y="513207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1487" y="515971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特征工程与清洗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64885" y="333838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21" name="Text 19"/>
          <p:cNvSpPr/>
          <p:nvPr/>
        </p:nvSpPr>
        <p:spPr>
          <a:xfrm rot="5400000">
            <a:off x="6064885" y="333838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177812" y="345120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23" name="Text 21"/>
          <p:cNvSpPr/>
          <p:nvPr/>
        </p:nvSpPr>
        <p:spPr>
          <a:xfrm rot="5400000">
            <a:off x="6177812" y="345120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1602" y="330962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5287" y="333726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技术路线与模型选择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064885" y="4249614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27" name="Text 25"/>
          <p:cNvSpPr/>
          <p:nvPr/>
        </p:nvSpPr>
        <p:spPr>
          <a:xfrm rot="5400000">
            <a:off x="6064885" y="424961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177812" y="4362434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29" name="Text 27"/>
          <p:cNvSpPr/>
          <p:nvPr/>
        </p:nvSpPr>
        <p:spPr>
          <a:xfrm rot="5400000">
            <a:off x="6177812" y="436243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1602" y="4220845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5287" y="424848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训练与验证流程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rot="5400000">
            <a:off x="6064885" y="516083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33" name="Text 31"/>
          <p:cNvSpPr/>
          <p:nvPr/>
        </p:nvSpPr>
        <p:spPr>
          <a:xfrm rot="5400000">
            <a:off x="6064885" y="516083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177812" y="527365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35" name="Text 33"/>
          <p:cNvSpPr/>
          <p:nvPr/>
        </p:nvSpPr>
        <p:spPr>
          <a:xfrm rot="5400000">
            <a:off x="6177812" y="527365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1602" y="513207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5287" y="515971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结果与性能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07025" y="458470"/>
            <a:ext cx="3513455" cy="1289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>
                    <a:alpha val="27843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39" name="Image 0" descr="https://test-kimi-img.moonshot.cn/pub/slides/slides_tmpl/image/25-05-30-10:47:59-d0shons75iks832je3n0.png"/>
          <p:cNvPicPr>
            <a:picLocks noChangeAspect="1"/>
          </p:cNvPicPr>
          <p:nvPr/>
        </p:nvPicPr>
        <p:blipFill>
          <a:blip r:embed="rId3"/>
          <a:srcRect t="116" b="116"/>
          <a:stretch/>
        </p:blipFill>
        <p:spPr>
          <a:xfrm>
            <a:off x="0" y="0"/>
            <a:ext cx="12192000" cy="2463165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1545" y="732790"/>
            <a:ext cx="3513455" cy="1289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>
                    <a:alpha val="27843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061085" y="3337794"/>
            <a:ext cx="293611" cy="293736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3" name="Text 1"/>
          <p:cNvSpPr/>
          <p:nvPr/>
        </p:nvSpPr>
        <p:spPr>
          <a:xfrm rot="5400000">
            <a:off x="1061085" y="3337794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1174012" y="3450769"/>
            <a:ext cx="293611" cy="293736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5" name="Text 3"/>
          <p:cNvSpPr/>
          <p:nvPr/>
        </p:nvSpPr>
        <p:spPr>
          <a:xfrm rot="5400000">
            <a:off x="1174012" y="3450769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47802" y="3308985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1487" y="3336664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1061085" y="4249614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9" name="Text 7"/>
          <p:cNvSpPr/>
          <p:nvPr/>
        </p:nvSpPr>
        <p:spPr>
          <a:xfrm rot="5400000">
            <a:off x="1061085" y="424961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74012" y="4362434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11" name="Text 9"/>
          <p:cNvSpPr/>
          <p:nvPr/>
        </p:nvSpPr>
        <p:spPr>
          <a:xfrm rot="5400000">
            <a:off x="1174012" y="436243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7802" y="4220845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1487" y="424848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演示方案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1061085" y="516083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15" name="Text 13"/>
          <p:cNvSpPr/>
          <p:nvPr/>
        </p:nvSpPr>
        <p:spPr>
          <a:xfrm rot="5400000">
            <a:off x="1061085" y="516083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1174012" y="527365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17" name="Text 15"/>
          <p:cNvSpPr/>
          <p:nvPr/>
        </p:nvSpPr>
        <p:spPr>
          <a:xfrm rot="5400000">
            <a:off x="1174012" y="527365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47802" y="5132070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1487" y="515971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64885" y="333838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21" name="Text 19"/>
          <p:cNvSpPr/>
          <p:nvPr/>
        </p:nvSpPr>
        <p:spPr>
          <a:xfrm rot="5400000">
            <a:off x="6064885" y="333838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177812" y="345120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23" name="Text 21"/>
          <p:cNvSpPr/>
          <p:nvPr/>
        </p:nvSpPr>
        <p:spPr>
          <a:xfrm rot="5400000">
            <a:off x="6177812" y="345120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1602" y="3309620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95287" y="333726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风险与不足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064885" y="4249614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27" name="Text 25"/>
          <p:cNvSpPr/>
          <p:nvPr/>
        </p:nvSpPr>
        <p:spPr>
          <a:xfrm rot="5400000">
            <a:off x="6064885" y="424961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177812" y="4362434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29" name="Text 27"/>
          <p:cNvSpPr/>
          <p:nvPr/>
        </p:nvSpPr>
        <p:spPr>
          <a:xfrm rot="5400000">
            <a:off x="6177812" y="436243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1602" y="4220845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5287" y="424848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规划与展望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rot="5400000">
            <a:off x="6064885" y="5160839"/>
            <a:ext cx="293611" cy="293331"/>
          </a:xfrm>
          <a:prstGeom prst="triangle">
            <a:avLst/>
          </a:prstGeom>
          <a:solidFill>
            <a:srgbClr val="3178A1"/>
          </a:solidFill>
          <a:ln/>
        </p:spPr>
      </p:sp>
      <p:sp>
        <p:nvSpPr>
          <p:cNvPr id="33" name="Text 31"/>
          <p:cNvSpPr/>
          <p:nvPr/>
        </p:nvSpPr>
        <p:spPr>
          <a:xfrm rot="5400000">
            <a:off x="6064885" y="516083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177812" y="5273659"/>
            <a:ext cx="293611" cy="293331"/>
          </a:xfrm>
          <a:prstGeom prst="triangle">
            <a:avLst/>
          </a:prstGeom>
          <a:solidFill>
            <a:srgbClr val="6DAECC"/>
          </a:solidFill>
          <a:ln/>
        </p:spPr>
      </p:sp>
      <p:sp>
        <p:nvSpPr>
          <p:cNvPr id="35" name="Text 33"/>
          <p:cNvSpPr/>
          <p:nvPr/>
        </p:nvSpPr>
        <p:spPr>
          <a:xfrm rot="5400000">
            <a:off x="6177812" y="527365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1602" y="5132070"/>
            <a:ext cx="686598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5287" y="515971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总结与Q&amp;A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07025" y="458470"/>
            <a:ext cx="3513455" cy="1289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>
                    <a:alpha val="27843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39" name="Image 0" descr="https://test-kimi-img.moonshot.cn/pub/slides/slides_tmpl/image/25-05-30-10:47:59-d0shons75iks832je3n0.png"/>
          <p:cNvPicPr>
            <a:picLocks noChangeAspect="1"/>
          </p:cNvPicPr>
          <p:nvPr/>
        </p:nvPicPr>
        <p:blipFill>
          <a:blip r:embed="rId3"/>
          <a:srcRect t="116" b="116"/>
          <a:stretch/>
        </p:blipFill>
        <p:spPr>
          <a:xfrm>
            <a:off x="0" y="0"/>
            <a:ext cx="12192000" cy="2463165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31545" y="732790"/>
            <a:ext cx="3513455" cy="1289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>
                    <a:alpha val="27843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项目概览与目标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295C74">
              <a:alpha val="23137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5-30-10:48:57-d0shp6c75iks832je440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3074352" y="1831658"/>
            <a:ext cx="6704965" cy="372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3178A1"/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8" name="Text 5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10" name="Text 7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12" name="Text 9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46705" y="1313815"/>
            <a:ext cx="59182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7170" y="3285490"/>
            <a:ext cx="64262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67380" y="5291455"/>
            <a:ext cx="66738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10685" y="1246505"/>
            <a:ext cx="683895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医疗早筛需求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210685" y="1703070"/>
            <a:ext cx="6838950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在医疗领域，早期筛查与预警对于疾病的防控至关重要。尤其是对于一些慢性疾病，如心脏病和甲状腺疾病，早期发现可以有效提高治愈率和患者的生活质量。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27170" y="5546725"/>
            <a:ext cx="6839585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项目成果将以Flask API的形式实现落地应用，同时配备简易前端页面，方便用户输入数据并获取预测结果。此外，模型能够自动加载，确保系统的高效运行。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7170" y="5089525"/>
            <a:ext cx="683895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落地应用形态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59020" y="3302000"/>
            <a:ext cx="683895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项目目标设定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59020" y="3758565"/>
            <a:ext cx="6838950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本项目旨在通过机器学习技术，显著提高健康与疾病状态的识别准确率，尤其关注降低健康人群的漏诊率。为此，我们设定了AUC值达到0.99及以上的量化目标。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810" y="315595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医疗早筛零漏诊需求与项目目标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数据与问题定义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Text 1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6DAECC"/>
          </a:solidFill>
          <a:ln/>
        </p:spPr>
      </p:sp>
      <p:sp>
        <p:nvSpPr>
          <p:cNvPr id="5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178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1188" y="1680845"/>
            <a:ext cx="41832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178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数据来源与多样性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7445" y="2179320"/>
            <a:ext cx="4184015" cy="1143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项目的数据来源于多个公开的医疗数据集，如甲状腺疾病数据集和心脏病数据集。这些数据集包含了丰富的医疗指标，但数据格式和字段存在差异，增加了处理难度。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5045" y="4332605"/>
            <a:ext cx="483235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二分类任务难点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5045" y="4815840"/>
            <a:ext cx="10386060" cy="71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项目的核心任务是将数据集中的样本分为健康和疾病两类。然而，数据集中存在严重的类别不平衡问题，健康样本数量远多于疾病样本，这给模型训练带来了巨大挑战。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8330" y="469900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多源数据背景与二分类任务难点</a:t>
            </a:r>
            <a:endParaRPr lang="en-US" sz="1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AF1B665-0C32-30F0-E00F-151463576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395" y="1269711"/>
            <a:ext cx="5295303" cy="2891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5FE478F7-FC76-5440-9EAC-7BA889E25BA8}"/>
              </a:ext>
            </a:extLst>
          </p:cNvPr>
          <p:cNvSpPr/>
          <p:nvPr/>
        </p:nvSpPr>
        <p:spPr>
          <a:xfrm>
            <a:off x="1270" y="1"/>
            <a:ext cx="12190730" cy="1276478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202F8D-1B3A-07FC-7D92-1E6733210253}"/>
              </a:ext>
            </a:extLst>
          </p:cNvPr>
          <p:cNvSpPr txBox="1"/>
          <p:nvPr/>
        </p:nvSpPr>
        <p:spPr>
          <a:xfrm>
            <a:off x="434187" y="39834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数据概况</a:t>
            </a:r>
            <a:endParaRPr lang="zh-CN" altLang="en-US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FBA34E-698D-B52F-27FD-1055085C7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7" y="4008008"/>
            <a:ext cx="6811449" cy="26993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F9045D-6480-5EBB-8ABD-CC484FB3B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766" y="1276479"/>
            <a:ext cx="3385696" cy="55964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3764E5-05AE-FF7F-D569-121668AC5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290" y="1276479"/>
            <a:ext cx="2212069" cy="27841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7BB122B-441F-27DE-2CD7-21005C120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41" y="1292373"/>
            <a:ext cx="4990606" cy="14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2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B45B891-27F3-3FD7-161B-628433EF86A4}"/>
              </a:ext>
            </a:extLst>
          </p:cNvPr>
          <p:cNvSpPr/>
          <p:nvPr/>
        </p:nvSpPr>
        <p:spPr>
          <a:xfrm>
            <a:off x="1270" y="1"/>
            <a:ext cx="12190730" cy="1276478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A9B490-165E-8CF8-1A8D-0C167D0CAE9F}"/>
              </a:ext>
            </a:extLst>
          </p:cNvPr>
          <p:cNvSpPr txBox="1"/>
          <p:nvPr/>
        </p:nvSpPr>
        <p:spPr>
          <a:xfrm>
            <a:off x="501693" y="343108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数据探索：处理离群值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C5DB33-619A-6AAC-6617-74D949688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387" y="4156061"/>
            <a:ext cx="2911881" cy="26931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07301B-D55E-9F50-4C61-A9E66B356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" y="3882576"/>
            <a:ext cx="6617253" cy="28810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FAD2E3-D0C6-5206-D09C-E2FF3CA70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35" y="1310998"/>
            <a:ext cx="6578938" cy="27623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4C45EAA-5F68-A534-BDCA-718BBDF9E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387" y="1276479"/>
            <a:ext cx="4722009" cy="28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8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5217-1A79-384F-D2DF-8C07073A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5BB35A2-5874-BD96-492D-1770D7C0C5D4}"/>
              </a:ext>
            </a:extLst>
          </p:cNvPr>
          <p:cNvSpPr/>
          <p:nvPr/>
        </p:nvSpPr>
        <p:spPr>
          <a:xfrm>
            <a:off x="1270" y="1"/>
            <a:ext cx="12190730" cy="1276478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C65778-4868-C392-FB69-B9620D39864C}"/>
              </a:ext>
            </a:extLst>
          </p:cNvPr>
          <p:cNvSpPr txBox="1"/>
          <p:nvPr/>
        </p:nvSpPr>
        <p:spPr>
          <a:xfrm>
            <a:off x="501693" y="343108"/>
            <a:ext cx="9526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数据探索：特征变量与目标变量分布</a:t>
            </a:r>
            <a:endParaRPr lang="zh-CN" altLang="en-US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556CB1-E67D-4D67-6219-341E96D2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391" y="1276479"/>
            <a:ext cx="4962166" cy="55462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457EEB-1B80-5C2B-BA50-832023551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43" y="3214728"/>
            <a:ext cx="5603001" cy="31154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F30CDFC-44F4-EADE-B653-2C187CC7F6BE}"/>
              </a:ext>
            </a:extLst>
          </p:cNvPr>
          <p:cNvSpPr txBox="1"/>
          <p:nvPr/>
        </p:nvSpPr>
        <p:spPr>
          <a:xfrm>
            <a:off x="217760" y="1704945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通过使用</a:t>
            </a:r>
            <a:r>
              <a:rPr lang="en-US" altLang="zh-CN" dirty="0"/>
              <a:t>matplotlib</a:t>
            </a:r>
            <a:r>
              <a:rPr lang="zh-CN" altLang="en-US" dirty="0"/>
              <a:t>绘制变量分布图，我们能够发现，</a:t>
            </a:r>
            <a:br>
              <a:rPr lang="en-US" altLang="zh-CN" dirty="0"/>
            </a:br>
            <a:r>
              <a:rPr lang="zh-CN" altLang="en-US" dirty="0"/>
              <a:t>特征变量基本符合正态分布，但是目标变量却分布极度不均，</a:t>
            </a:r>
            <a:endParaRPr lang="en-US" altLang="zh-CN" dirty="0"/>
          </a:p>
          <a:p>
            <a:r>
              <a:rPr lang="zh-CN" altLang="en-US" dirty="0"/>
              <a:t>这给我们带来警示：在训练模型前，也许要做一些平衡处理。</a:t>
            </a:r>
          </a:p>
        </p:txBody>
      </p:sp>
    </p:spTree>
    <p:extLst>
      <p:ext uri="{BB962C8B-B14F-4D97-AF65-F5344CB8AC3E}">
        <p14:creationId xmlns:p14="http://schemas.microsoft.com/office/powerpoint/2010/main" val="389513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特征工程与清洗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21881" y="1413510"/>
            <a:ext cx="5705628" cy="4602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178A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1881" y="2952115"/>
            <a:ext cx="5505603" cy="0"/>
          </a:xfrm>
          <a:prstGeom prst="line">
            <a:avLst/>
          </a:prstGeom>
          <a:noFill/>
          <a:ln w="12700">
            <a:solidFill>
              <a:srgbClr val="3178A1"/>
            </a:solidFill>
            <a:prstDash val="dash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6121881" y="4481830"/>
            <a:ext cx="5505604" cy="0"/>
          </a:xfrm>
          <a:prstGeom prst="line">
            <a:avLst/>
          </a:prstGeom>
          <a:noFill/>
          <a:ln w="12700">
            <a:solidFill>
              <a:srgbClr val="3178A1"/>
            </a:solidFill>
            <a:prstDash val="dash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6096000" y="1572895"/>
            <a:ext cx="556006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数值特征处理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49187" y="1941830"/>
            <a:ext cx="5505602" cy="629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对于数值特征，如TSH、T3、T4和年龄等，我们采用了中位数填充缺失值，并进行了类型转换，确保数据的完整性和一致性。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0" y="3102610"/>
            <a:ext cx="556006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类别特征处理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0" y="3471545"/>
            <a:ext cx="5558790" cy="909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对于类别特征，如转诊来源、胸痛类型、静息心电图和ST段斜率等，我们采用了二值化和One-Hot编码方法，将其转化为模型可处理的数值形式。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6000" y="4632325"/>
            <a:ext cx="556006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特征对齐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96000" y="5001260"/>
            <a:ext cx="5558790" cy="629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在训练和推理阶段，我们严格按expected_features的顺序输入特征，确保特征的一致性，避免因特征错位导致的预测误差。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8330" y="469900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数值与类别特征清洗对齐策略</a:t>
            </a:r>
            <a:endParaRPr lang="en-US" sz="1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FD6DC40-F1B1-25B3-0336-EDE3BC3A5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10" y="936714"/>
            <a:ext cx="3325973" cy="24648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E2B38D1-6FAE-16B6-118A-8E9E3EC2A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05" y="3624384"/>
            <a:ext cx="3869980" cy="21364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2"/>
          <p:cNvSpPr/>
          <p:nvPr>
            <p:custDataLst>
              <p:tags r:id="rId2"/>
            </p:custDataLst>
          </p:nvPr>
        </p:nvSpPr>
        <p:spPr>
          <a:xfrm>
            <a:off x="759059" y="3711910"/>
            <a:ext cx="10673883" cy="496561"/>
          </a:xfrm>
          <a:prstGeom prst="homePlate">
            <a:avLst/>
          </a:prstGeom>
          <a:solidFill>
            <a:schemeClr val="accent1"/>
          </a:solidFill>
          <a:ln w="19050">
            <a:gradFill>
              <a:gsLst>
                <a:gs pos="20000">
                  <a:schemeClr val="accent1">
                    <a:alpha val="0"/>
                  </a:schemeClr>
                </a:gs>
                <a:gs pos="90000">
                  <a:schemeClr val="accent1">
                    <a:alpha val="10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6" name="直接箭头连接符 5"/>
          <p:cNvCxnSpPr/>
          <p:nvPr>
            <p:custDataLst>
              <p:tags r:id="rId3"/>
            </p:custDataLst>
          </p:nvPr>
        </p:nvCxnSpPr>
        <p:spPr>
          <a:xfrm>
            <a:off x="759059" y="3959804"/>
            <a:ext cx="10446071" cy="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6"/>
          <p:cNvCxnSpPr/>
          <p:nvPr>
            <p:custDataLst>
              <p:tags r:id="rId4"/>
            </p:custDataLst>
          </p:nvPr>
        </p:nvCxnSpPr>
        <p:spPr>
          <a:xfrm flipH="1">
            <a:off x="1122427" y="1799046"/>
            <a:ext cx="5021" cy="2385432"/>
          </a:xfrm>
          <a:prstGeom prst="line">
            <a:avLst/>
          </a:prstGeom>
          <a:ln w="25400">
            <a:gradFill>
              <a:gsLst>
                <a:gs pos="17000">
                  <a:schemeClr val="accent1">
                    <a:alpha val="0"/>
                  </a:schemeClr>
                </a:gs>
                <a:gs pos="61000">
                  <a:schemeClr val="accent1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延期 7"/>
          <p:cNvSpPr/>
          <p:nvPr>
            <p:custDataLst>
              <p:tags r:id="rId5"/>
            </p:custDataLst>
          </p:nvPr>
        </p:nvSpPr>
        <p:spPr>
          <a:xfrm>
            <a:off x="1127448" y="1799046"/>
            <a:ext cx="469430" cy="501437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6DAECC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01</a:t>
            </a:r>
          </a:p>
        </p:txBody>
      </p:sp>
      <p:sp>
        <p:nvSpPr>
          <p:cNvPr id="9" name="矩形 9"/>
          <p:cNvSpPr/>
          <p:nvPr>
            <p:custDataLst>
              <p:tags r:id="rId6"/>
            </p:custDataLst>
          </p:nvPr>
        </p:nvSpPr>
        <p:spPr>
          <a:xfrm>
            <a:off x="1258612" y="2427254"/>
            <a:ext cx="3421567" cy="1088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通过数据类型与唯一值数量划分特征类别</a:t>
            </a:r>
          </a:p>
        </p:txBody>
      </p:sp>
      <p:sp>
        <p:nvSpPr>
          <p:cNvPr id="14" name="矩形 10"/>
          <p:cNvSpPr/>
          <p:nvPr>
            <p:custDataLst>
              <p:tags r:id="rId7"/>
            </p:custDataLst>
          </p:nvPr>
        </p:nvSpPr>
        <p:spPr>
          <a:xfrm>
            <a:off x="1796448" y="1859921"/>
            <a:ext cx="2880593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AEC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特征类型识别</a:t>
            </a:r>
          </a:p>
        </p:txBody>
      </p:sp>
      <p:sp>
        <p:nvSpPr>
          <p:cNvPr id="15" name="椭圆 11"/>
          <p:cNvSpPr/>
          <p:nvPr>
            <p:custDataLst>
              <p:tags r:id="rId8"/>
            </p:custDataLst>
          </p:nvPr>
        </p:nvSpPr>
        <p:spPr>
          <a:xfrm>
            <a:off x="1071593" y="3920894"/>
            <a:ext cx="92254" cy="922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1" name="直接连接符 42"/>
          <p:cNvCxnSpPr/>
          <p:nvPr>
            <p:custDataLst>
              <p:tags r:id="rId9"/>
            </p:custDataLst>
          </p:nvPr>
        </p:nvCxnSpPr>
        <p:spPr>
          <a:xfrm flipH="1" flipV="1">
            <a:off x="3334647" y="3726345"/>
            <a:ext cx="1883" cy="2385432"/>
          </a:xfrm>
          <a:prstGeom prst="line">
            <a:avLst/>
          </a:prstGeom>
          <a:ln w="25400">
            <a:gradFill>
              <a:gsLst>
                <a:gs pos="17000">
                  <a:schemeClr val="accent2">
                    <a:alpha val="0"/>
                  </a:schemeClr>
                </a:gs>
                <a:gs pos="61000">
                  <a:schemeClr val="accent2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13"/>
          <p:cNvSpPr/>
          <p:nvPr>
            <p:custDataLst>
              <p:tags r:id="rId10"/>
            </p:custDataLst>
          </p:nvPr>
        </p:nvSpPr>
        <p:spPr>
          <a:xfrm>
            <a:off x="3281931" y="3920894"/>
            <a:ext cx="92254" cy="922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14"/>
          <p:cNvSpPr/>
          <p:nvPr>
            <p:custDataLst>
              <p:tags r:id="rId11"/>
            </p:custDataLst>
          </p:nvPr>
        </p:nvSpPr>
        <p:spPr>
          <a:xfrm>
            <a:off x="3480874" y="4286774"/>
            <a:ext cx="3421567" cy="10882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采用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IQR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方法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(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四分位距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检测数值特征异常值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用中位数替换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并通过箱线图查看处理后的数据分布数据标准化</a:t>
            </a:r>
          </a:p>
        </p:txBody>
      </p:sp>
      <p:sp>
        <p:nvSpPr>
          <p:cNvPr id="26" name="流程图: 延期 41"/>
          <p:cNvSpPr/>
          <p:nvPr>
            <p:custDataLst>
              <p:tags r:id="rId12"/>
            </p:custDataLst>
          </p:nvPr>
        </p:nvSpPr>
        <p:spPr>
          <a:xfrm>
            <a:off x="3347827" y="5604692"/>
            <a:ext cx="469430" cy="501437"/>
          </a:xfrm>
          <a:prstGeom prst="flowChartDelay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00FFFF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00FFFF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27" name="矩形 15"/>
          <p:cNvSpPr/>
          <p:nvPr>
            <p:custDataLst>
              <p:tags r:id="rId13"/>
            </p:custDataLst>
          </p:nvPr>
        </p:nvSpPr>
        <p:spPr>
          <a:xfrm>
            <a:off x="4018082" y="5666195"/>
            <a:ext cx="2881220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异常值处理</a:t>
            </a:r>
          </a:p>
        </p:txBody>
      </p:sp>
      <p:cxnSp>
        <p:nvCxnSpPr>
          <p:cNvPr id="30" name="直接连接符 12"/>
          <p:cNvCxnSpPr/>
          <p:nvPr>
            <p:custDataLst>
              <p:tags r:id="rId14"/>
            </p:custDataLst>
          </p:nvPr>
        </p:nvCxnSpPr>
        <p:spPr>
          <a:xfrm flipH="1">
            <a:off x="5555026" y="1799046"/>
            <a:ext cx="5021" cy="2385432"/>
          </a:xfrm>
          <a:prstGeom prst="line">
            <a:avLst/>
          </a:prstGeom>
          <a:ln w="25400">
            <a:gradFill>
              <a:gsLst>
                <a:gs pos="17000">
                  <a:schemeClr val="accent3">
                    <a:alpha val="0"/>
                  </a:schemeClr>
                </a:gs>
                <a:gs pos="61000">
                  <a:schemeClr val="accent3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17"/>
          <p:cNvSpPr/>
          <p:nvPr>
            <p:custDataLst>
              <p:tags r:id="rId15"/>
            </p:custDataLst>
          </p:nvPr>
        </p:nvSpPr>
        <p:spPr>
          <a:xfrm>
            <a:off x="5697487" y="2427254"/>
            <a:ext cx="3421567" cy="1088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针对不同类型特征制定差异化策略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连续数值特征用中位数填充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分类特征用众数填充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最终实现全量特征缺失值归零</a:t>
            </a:r>
          </a:p>
        </p:txBody>
      </p:sp>
      <p:sp>
        <p:nvSpPr>
          <p:cNvPr id="32" name="流程图: 延期 19"/>
          <p:cNvSpPr/>
          <p:nvPr>
            <p:custDataLst>
              <p:tags r:id="rId16"/>
            </p:custDataLst>
          </p:nvPr>
        </p:nvSpPr>
        <p:spPr>
          <a:xfrm>
            <a:off x="5560047" y="1799046"/>
            <a:ext cx="469430" cy="501437"/>
          </a:xfrm>
          <a:prstGeom prst="flowChartDelay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3178A1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3178A1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3" name="矩形 20"/>
          <p:cNvSpPr/>
          <p:nvPr>
            <p:custDataLst>
              <p:tags r:id="rId17"/>
            </p:custDataLst>
          </p:nvPr>
        </p:nvSpPr>
        <p:spPr>
          <a:xfrm>
            <a:off x="6229047" y="1859921"/>
            <a:ext cx="2888751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178A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处理缺失值与重复值</a:t>
            </a:r>
          </a:p>
        </p:txBody>
      </p:sp>
      <p:sp>
        <p:nvSpPr>
          <p:cNvPr id="34" name="椭圆 21"/>
          <p:cNvSpPr/>
          <p:nvPr>
            <p:custDataLst>
              <p:tags r:id="rId18"/>
            </p:custDataLst>
          </p:nvPr>
        </p:nvSpPr>
        <p:spPr>
          <a:xfrm>
            <a:off x="5504192" y="3920894"/>
            <a:ext cx="92254" cy="922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5" name="直接连接符 18"/>
          <p:cNvCxnSpPr/>
          <p:nvPr>
            <p:custDataLst>
              <p:tags r:id="rId19"/>
            </p:custDataLst>
          </p:nvPr>
        </p:nvCxnSpPr>
        <p:spPr>
          <a:xfrm flipH="1" flipV="1">
            <a:off x="7773522" y="3726345"/>
            <a:ext cx="1883" cy="2385432"/>
          </a:xfrm>
          <a:prstGeom prst="line">
            <a:avLst/>
          </a:prstGeom>
          <a:ln w="25400">
            <a:gradFill>
              <a:gsLst>
                <a:gs pos="17000">
                  <a:schemeClr val="accent4">
                    <a:alpha val="0"/>
                  </a:schemeClr>
                </a:gs>
                <a:gs pos="61000">
                  <a:schemeClr val="accent4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29"/>
          <p:cNvSpPr/>
          <p:nvPr>
            <p:custDataLst>
              <p:tags r:id="rId20"/>
            </p:custDataLst>
          </p:nvPr>
        </p:nvSpPr>
        <p:spPr>
          <a:xfrm>
            <a:off x="7720805" y="3920894"/>
            <a:ext cx="92254" cy="9225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7" name="矩形 31"/>
          <p:cNvSpPr/>
          <p:nvPr>
            <p:custDataLst>
              <p:tags r:id="rId21"/>
            </p:custDataLst>
          </p:nvPr>
        </p:nvSpPr>
        <p:spPr>
          <a:xfrm>
            <a:off x="7919748" y="4286774"/>
            <a:ext cx="3421567" cy="10882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利用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Z-score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标准化方法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将数据转换为均值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≈0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、标准差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≈1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的分布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消除量纲影响</a:t>
            </a:r>
          </a:p>
        </p:txBody>
      </p:sp>
      <p:sp>
        <p:nvSpPr>
          <p:cNvPr id="38" name="流程图: 延期 32"/>
          <p:cNvSpPr/>
          <p:nvPr>
            <p:custDataLst>
              <p:tags r:id="rId22"/>
            </p:custDataLst>
          </p:nvPr>
        </p:nvSpPr>
        <p:spPr>
          <a:xfrm>
            <a:off x="7786701" y="5604692"/>
            <a:ext cx="469430" cy="501437"/>
          </a:xfrm>
          <a:prstGeom prst="flowChartDelay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1C4275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1C4275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9" name="矩形 33"/>
          <p:cNvSpPr/>
          <p:nvPr>
            <p:custDataLst>
              <p:tags r:id="rId23"/>
            </p:custDataLst>
          </p:nvPr>
        </p:nvSpPr>
        <p:spPr>
          <a:xfrm>
            <a:off x="8456956" y="5666822"/>
            <a:ext cx="2881220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4275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数据标准化</a:t>
            </a:r>
          </a:p>
        </p:txBody>
      </p:sp>
      <p:sp>
        <p:nvSpPr>
          <p:cNvPr id="3" name="Text 12"/>
          <p:cNvSpPr/>
          <p:nvPr/>
        </p:nvSpPr>
        <p:spPr>
          <a:xfrm>
            <a:off x="608330" y="46990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95C74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初步清洗与处理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94555" y="361950"/>
            <a:ext cx="5144770" cy="23768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79950" y="2738755"/>
            <a:ext cx="5159375" cy="850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7"/>
          <a:srcRect b="4681"/>
          <a:stretch>
            <a:fillRect/>
          </a:stretch>
        </p:blipFill>
        <p:spPr>
          <a:xfrm>
            <a:off x="3481070" y="229870"/>
            <a:ext cx="4283710" cy="34175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78750" y="234315"/>
            <a:ext cx="4424680" cy="33534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2"/>
          <p:cNvSpPr/>
          <p:nvPr>
            <p:custDataLst>
              <p:tags r:id="rId2"/>
            </p:custDataLst>
          </p:nvPr>
        </p:nvSpPr>
        <p:spPr>
          <a:xfrm>
            <a:off x="759059" y="3711910"/>
            <a:ext cx="10673883" cy="496561"/>
          </a:xfrm>
          <a:prstGeom prst="homePlate">
            <a:avLst/>
          </a:prstGeom>
          <a:solidFill>
            <a:schemeClr val="accent1"/>
          </a:solidFill>
          <a:ln w="19050">
            <a:gradFill>
              <a:gsLst>
                <a:gs pos="20000">
                  <a:schemeClr val="accent1">
                    <a:alpha val="0"/>
                  </a:schemeClr>
                </a:gs>
                <a:gs pos="90000">
                  <a:schemeClr val="accent1">
                    <a:alpha val="10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6" name="直接箭头连接符 5"/>
          <p:cNvCxnSpPr/>
          <p:nvPr>
            <p:custDataLst>
              <p:tags r:id="rId3"/>
            </p:custDataLst>
          </p:nvPr>
        </p:nvCxnSpPr>
        <p:spPr>
          <a:xfrm>
            <a:off x="759059" y="3959804"/>
            <a:ext cx="10446071" cy="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6"/>
          <p:cNvCxnSpPr/>
          <p:nvPr>
            <p:custDataLst>
              <p:tags r:id="rId4"/>
            </p:custDataLst>
          </p:nvPr>
        </p:nvCxnSpPr>
        <p:spPr>
          <a:xfrm flipH="1">
            <a:off x="1122427" y="1799046"/>
            <a:ext cx="5021" cy="2385432"/>
          </a:xfrm>
          <a:prstGeom prst="line">
            <a:avLst/>
          </a:prstGeom>
          <a:ln w="25400">
            <a:gradFill>
              <a:gsLst>
                <a:gs pos="17000">
                  <a:schemeClr val="accent1">
                    <a:alpha val="0"/>
                  </a:schemeClr>
                </a:gs>
                <a:gs pos="61000">
                  <a:schemeClr val="accent1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延期 7"/>
          <p:cNvSpPr/>
          <p:nvPr>
            <p:custDataLst>
              <p:tags r:id="rId5"/>
            </p:custDataLst>
          </p:nvPr>
        </p:nvSpPr>
        <p:spPr>
          <a:xfrm>
            <a:off x="1127448" y="1799046"/>
            <a:ext cx="469430" cy="501437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6DAECC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01</a:t>
            </a:r>
          </a:p>
        </p:txBody>
      </p:sp>
      <p:sp>
        <p:nvSpPr>
          <p:cNvPr id="9" name="矩形 9"/>
          <p:cNvSpPr/>
          <p:nvPr>
            <p:custDataLst>
              <p:tags r:id="rId6"/>
            </p:custDataLst>
          </p:nvPr>
        </p:nvSpPr>
        <p:spPr>
          <a:xfrm>
            <a:off x="1258612" y="2427254"/>
            <a:ext cx="3421567" cy="1088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通过数据类型与唯一值数量划分特征类别</a:t>
            </a:r>
          </a:p>
        </p:txBody>
      </p:sp>
      <p:sp>
        <p:nvSpPr>
          <p:cNvPr id="14" name="矩形 10"/>
          <p:cNvSpPr/>
          <p:nvPr>
            <p:custDataLst>
              <p:tags r:id="rId7"/>
            </p:custDataLst>
          </p:nvPr>
        </p:nvSpPr>
        <p:spPr>
          <a:xfrm>
            <a:off x="1796448" y="1859921"/>
            <a:ext cx="2880593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AEC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特征类型识别</a:t>
            </a:r>
          </a:p>
        </p:txBody>
      </p:sp>
      <p:sp>
        <p:nvSpPr>
          <p:cNvPr id="15" name="椭圆 11"/>
          <p:cNvSpPr/>
          <p:nvPr>
            <p:custDataLst>
              <p:tags r:id="rId8"/>
            </p:custDataLst>
          </p:nvPr>
        </p:nvSpPr>
        <p:spPr>
          <a:xfrm>
            <a:off x="1071593" y="3920894"/>
            <a:ext cx="92254" cy="9225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1" name="直接连接符 42"/>
          <p:cNvCxnSpPr/>
          <p:nvPr>
            <p:custDataLst>
              <p:tags r:id="rId9"/>
            </p:custDataLst>
          </p:nvPr>
        </p:nvCxnSpPr>
        <p:spPr>
          <a:xfrm flipH="1" flipV="1">
            <a:off x="3334647" y="3726345"/>
            <a:ext cx="1883" cy="2385432"/>
          </a:xfrm>
          <a:prstGeom prst="line">
            <a:avLst/>
          </a:prstGeom>
          <a:ln w="25400">
            <a:gradFill>
              <a:gsLst>
                <a:gs pos="17000">
                  <a:schemeClr val="accent2">
                    <a:alpha val="0"/>
                  </a:schemeClr>
                </a:gs>
                <a:gs pos="61000">
                  <a:schemeClr val="accent2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13"/>
          <p:cNvSpPr/>
          <p:nvPr>
            <p:custDataLst>
              <p:tags r:id="rId10"/>
            </p:custDataLst>
          </p:nvPr>
        </p:nvSpPr>
        <p:spPr>
          <a:xfrm>
            <a:off x="3281931" y="3920894"/>
            <a:ext cx="92254" cy="922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矩形 14"/>
          <p:cNvSpPr/>
          <p:nvPr>
            <p:custDataLst>
              <p:tags r:id="rId11"/>
            </p:custDataLst>
          </p:nvPr>
        </p:nvSpPr>
        <p:spPr>
          <a:xfrm>
            <a:off x="3480874" y="4286774"/>
            <a:ext cx="3421567" cy="10882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采用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IQR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方法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(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四分位距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)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检测数值特征异常值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用中位数替换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并通过箱线图查看处理后的数据分布数据标准化</a:t>
            </a:r>
          </a:p>
        </p:txBody>
      </p:sp>
      <p:sp>
        <p:nvSpPr>
          <p:cNvPr id="26" name="流程图: 延期 41"/>
          <p:cNvSpPr/>
          <p:nvPr>
            <p:custDataLst>
              <p:tags r:id="rId12"/>
            </p:custDataLst>
          </p:nvPr>
        </p:nvSpPr>
        <p:spPr>
          <a:xfrm>
            <a:off x="3347827" y="5604692"/>
            <a:ext cx="469430" cy="501437"/>
          </a:xfrm>
          <a:prstGeom prst="flowChartDelay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00FFFF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00FFFF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27" name="矩形 15"/>
          <p:cNvSpPr/>
          <p:nvPr>
            <p:custDataLst>
              <p:tags r:id="rId13"/>
            </p:custDataLst>
          </p:nvPr>
        </p:nvSpPr>
        <p:spPr>
          <a:xfrm>
            <a:off x="4018082" y="5666195"/>
            <a:ext cx="2881220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异常值处理</a:t>
            </a:r>
          </a:p>
        </p:txBody>
      </p:sp>
      <p:cxnSp>
        <p:nvCxnSpPr>
          <p:cNvPr id="30" name="直接连接符 12"/>
          <p:cNvCxnSpPr/>
          <p:nvPr>
            <p:custDataLst>
              <p:tags r:id="rId14"/>
            </p:custDataLst>
          </p:nvPr>
        </p:nvCxnSpPr>
        <p:spPr>
          <a:xfrm flipH="1">
            <a:off x="5555026" y="1799046"/>
            <a:ext cx="5021" cy="2385432"/>
          </a:xfrm>
          <a:prstGeom prst="line">
            <a:avLst/>
          </a:prstGeom>
          <a:ln w="25400">
            <a:gradFill>
              <a:gsLst>
                <a:gs pos="17000">
                  <a:schemeClr val="accent3">
                    <a:alpha val="0"/>
                  </a:schemeClr>
                </a:gs>
                <a:gs pos="61000">
                  <a:schemeClr val="accent3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17"/>
          <p:cNvSpPr/>
          <p:nvPr>
            <p:custDataLst>
              <p:tags r:id="rId15"/>
            </p:custDataLst>
          </p:nvPr>
        </p:nvSpPr>
        <p:spPr>
          <a:xfrm>
            <a:off x="5697487" y="2427254"/>
            <a:ext cx="3421567" cy="1088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针对不同类型特征制定差异化策略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连续数值特征用中位数填充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分类特征用众数填充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最终实现全量特征缺失值归零</a:t>
            </a:r>
          </a:p>
        </p:txBody>
      </p:sp>
      <p:sp>
        <p:nvSpPr>
          <p:cNvPr id="32" name="流程图: 延期 19"/>
          <p:cNvSpPr/>
          <p:nvPr>
            <p:custDataLst>
              <p:tags r:id="rId16"/>
            </p:custDataLst>
          </p:nvPr>
        </p:nvSpPr>
        <p:spPr>
          <a:xfrm>
            <a:off x="5560047" y="1799046"/>
            <a:ext cx="469430" cy="501437"/>
          </a:xfrm>
          <a:prstGeom prst="flowChartDelay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3178A1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3178A1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3" name="矩形 20"/>
          <p:cNvSpPr/>
          <p:nvPr>
            <p:custDataLst>
              <p:tags r:id="rId17"/>
            </p:custDataLst>
          </p:nvPr>
        </p:nvSpPr>
        <p:spPr>
          <a:xfrm>
            <a:off x="6229047" y="1859921"/>
            <a:ext cx="2888751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178A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处理缺失值与重复值</a:t>
            </a:r>
          </a:p>
        </p:txBody>
      </p:sp>
      <p:sp>
        <p:nvSpPr>
          <p:cNvPr id="34" name="椭圆 21"/>
          <p:cNvSpPr/>
          <p:nvPr>
            <p:custDataLst>
              <p:tags r:id="rId18"/>
            </p:custDataLst>
          </p:nvPr>
        </p:nvSpPr>
        <p:spPr>
          <a:xfrm>
            <a:off x="5504192" y="3920894"/>
            <a:ext cx="92254" cy="922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5" name="直接连接符 18"/>
          <p:cNvCxnSpPr/>
          <p:nvPr>
            <p:custDataLst>
              <p:tags r:id="rId19"/>
            </p:custDataLst>
          </p:nvPr>
        </p:nvCxnSpPr>
        <p:spPr>
          <a:xfrm flipH="1" flipV="1">
            <a:off x="7773522" y="3726345"/>
            <a:ext cx="1883" cy="2385432"/>
          </a:xfrm>
          <a:prstGeom prst="line">
            <a:avLst/>
          </a:prstGeom>
          <a:ln w="25400">
            <a:gradFill>
              <a:gsLst>
                <a:gs pos="17000">
                  <a:schemeClr val="accent4">
                    <a:alpha val="0"/>
                  </a:schemeClr>
                </a:gs>
                <a:gs pos="61000">
                  <a:schemeClr val="accent4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29"/>
          <p:cNvSpPr/>
          <p:nvPr>
            <p:custDataLst>
              <p:tags r:id="rId20"/>
            </p:custDataLst>
          </p:nvPr>
        </p:nvSpPr>
        <p:spPr>
          <a:xfrm>
            <a:off x="7720805" y="3920894"/>
            <a:ext cx="92254" cy="9225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7" name="矩形 31"/>
          <p:cNvSpPr/>
          <p:nvPr>
            <p:custDataLst>
              <p:tags r:id="rId21"/>
            </p:custDataLst>
          </p:nvPr>
        </p:nvSpPr>
        <p:spPr>
          <a:xfrm>
            <a:off x="7919748" y="4286774"/>
            <a:ext cx="3421567" cy="10882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利用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Z-score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标准化方法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将数据转换为均值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≈0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、标准差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≈1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的分布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消除量纲影响</a:t>
            </a:r>
          </a:p>
        </p:txBody>
      </p:sp>
      <p:sp>
        <p:nvSpPr>
          <p:cNvPr id="38" name="流程图: 延期 32"/>
          <p:cNvSpPr/>
          <p:nvPr>
            <p:custDataLst>
              <p:tags r:id="rId22"/>
            </p:custDataLst>
          </p:nvPr>
        </p:nvSpPr>
        <p:spPr>
          <a:xfrm>
            <a:off x="7786701" y="5604692"/>
            <a:ext cx="469430" cy="501437"/>
          </a:xfrm>
          <a:prstGeom prst="flowChartDelay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1C4275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04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5400000" algn="t" rotWithShape="0">
                  <a:srgbClr val="1C4275">
                    <a:lumMod val="75000"/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9" name="矩形 33"/>
          <p:cNvSpPr/>
          <p:nvPr>
            <p:custDataLst>
              <p:tags r:id="rId23"/>
            </p:custDataLst>
          </p:nvPr>
        </p:nvSpPr>
        <p:spPr>
          <a:xfrm>
            <a:off x="8456956" y="5666822"/>
            <a:ext cx="2881220" cy="3809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4275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</a:rPr>
              <a:t>数据标准化</a:t>
            </a:r>
          </a:p>
        </p:txBody>
      </p:sp>
      <p:sp>
        <p:nvSpPr>
          <p:cNvPr id="3" name="Text 12"/>
          <p:cNvSpPr/>
          <p:nvPr/>
        </p:nvSpPr>
        <p:spPr>
          <a:xfrm>
            <a:off x="608330" y="46990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95C74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初步清洗与处理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5"/>
          <a:srcRect t="33853"/>
          <a:stretch>
            <a:fillRect/>
          </a:stretch>
        </p:blipFill>
        <p:spPr>
          <a:xfrm>
            <a:off x="5345430" y="631825"/>
            <a:ext cx="5488940" cy="301561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3395" y="1339850"/>
            <a:ext cx="4639945" cy="32639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8460" y="1339850"/>
            <a:ext cx="4869815" cy="46602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5277110" cy="769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技术路线与模型选择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175" y="2925445"/>
            <a:ext cx="6500495" cy="1539875"/>
          </a:xfrm>
          <a:prstGeom prst="roundRect">
            <a:avLst>
              <a:gd name="adj" fmla="val 11000"/>
            </a:avLst>
          </a:prstGeom>
          <a:solidFill>
            <a:srgbClr val="079F92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56175" y="2925445"/>
            <a:ext cx="6500495" cy="15398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56175" y="1461770"/>
            <a:ext cx="6500495" cy="1339215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56175" y="1461770"/>
            <a:ext cx="6500495" cy="1339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5965" y="1255395"/>
            <a:ext cx="10720070" cy="1545590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E1EFF5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735965" y="1255395"/>
            <a:ext cx="10720070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5965" y="2931160"/>
            <a:ext cx="10720705" cy="1545590"/>
          </a:xfrm>
          <a:prstGeom prst="roundRect">
            <a:avLst>
              <a:gd name="adj" fmla="val 11000"/>
            </a:avLst>
          </a:prstGeom>
          <a:solidFill>
            <a:srgbClr val="6DAECC"/>
          </a:solidFill>
          <a:ln w="19050">
            <a:solidFill>
              <a:srgbClr val="E1EFF5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735965" y="2931160"/>
            <a:ext cx="10720705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600" y="4594860"/>
            <a:ext cx="10720070" cy="1590675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19050">
            <a:solidFill>
              <a:srgbClr val="E1EFF5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600" y="4594860"/>
            <a:ext cx="10720070" cy="15906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005" y="3617595"/>
            <a:ext cx="10249200" cy="629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为了解决数据集中的类别不平衡问题，我们引入了SMOTE</a:t>
            </a:r>
            <a:r>
              <a:rPr lang="en-US" altLang="zh-CN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过采样技术，通过生成合成样本增加少数类样本数量，从而提高模型对少数类的识别能力。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005" y="1496695"/>
            <a:ext cx="1024920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模型对比与选择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9005" y="1983740"/>
            <a:ext cx="10249200" cy="571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我们对比了CatBoost、LightGBM和XGBoost三种模型，在医疗表格数据场景下，CatBoost对类别变量的处理更为友好，且调参过程更为稳定，因此被选为最终模型。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005" y="3118485"/>
            <a:ext cx="1024920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</a:t>
            </a:r>
            <a:r>
              <a:rPr lang="en-US" altLang="zh-CN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</a:t>
            </a: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过采样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005" y="4831080"/>
            <a:ext cx="1024920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调参框架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05" y="5386705"/>
            <a:ext cx="10249200" cy="285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我们采用了Optuna和网格搜索相结合的调参框架，对CatBoost模型的超参数进行精细调整，以达到最佳性能。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810" y="469900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CatBoost+SMOTE管道与调参框架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2BBDF304-F893-235C-55CB-D342365A9A0A}"/>
              </a:ext>
            </a:extLst>
          </p:cNvPr>
          <p:cNvSpPr/>
          <p:nvPr/>
        </p:nvSpPr>
        <p:spPr>
          <a:xfrm>
            <a:off x="1905" y="0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73560497-D598-0D30-4F9F-C896114AAB94}"/>
              </a:ext>
            </a:extLst>
          </p:cNvPr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CFD679-7648-5549-928A-5FF327C0377F}"/>
              </a:ext>
            </a:extLst>
          </p:cNvPr>
          <p:cNvSpPr txBox="1"/>
          <p:nvPr/>
        </p:nvSpPr>
        <p:spPr>
          <a:xfrm>
            <a:off x="329859" y="294441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模型对比与选择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7712D2-0F70-7B1A-E773-D9E930AD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" y="1581904"/>
            <a:ext cx="3904520" cy="50551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D085A9-40CF-135B-E761-5097DEA3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448" y="0"/>
            <a:ext cx="4531013" cy="50551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1D587F-8409-3388-4CF1-0B1FABB8A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777" y="3234037"/>
            <a:ext cx="4832223" cy="364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6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6C74A75-70BB-A491-639E-F1C24E08AE4A}"/>
              </a:ext>
            </a:extLst>
          </p:cNvPr>
          <p:cNvSpPr/>
          <p:nvPr/>
        </p:nvSpPr>
        <p:spPr>
          <a:xfrm>
            <a:off x="1905" y="0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0DC96E-AA7B-0DC9-C631-4BFA10E5D62D}"/>
              </a:ext>
            </a:extLst>
          </p:cNvPr>
          <p:cNvSpPr txBox="1"/>
          <p:nvPr/>
        </p:nvSpPr>
        <p:spPr>
          <a:xfrm>
            <a:off x="440324" y="294441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8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SMOTENC过采样</a:t>
            </a:r>
            <a:endParaRPr lang="en-US" altLang="zh-CN" sz="28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845B7A-58B5-CD1E-3DD4-AE3709AB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15" y="2045125"/>
            <a:ext cx="6049701" cy="47745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AD469D-B78B-8E98-AD51-20251BB5B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21" y="1695924"/>
            <a:ext cx="4762193" cy="51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13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DC84B6BA-E31C-75A8-879F-846A4F9563D2}"/>
              </a:ext>
            </a:extLst>
          </p:cNvPr>
          <p:cNvSpPr/>
          <p:nvPr/>
        </p:nvSpPr>
        <p:spPr>
          <a:xfrm>
            <a:off x="1905" y="0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681569-9CEC-CFC3-FFEE-F6E504A3795E}"/>
              </a:ext>
            </a:extLst>
          </p:cNvPr>
          <p:cNvSpPr txBox="1"/>
          <p:nvPr/>
        </p:nvSpPr>
        <p:spPr>
          <a:xfrm>
            <a:off x="342134" y="217497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调参框架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728D51-4B65-6228-5A54-E2881EEBE82D}"/>
              </a:ext>
            </a:extLst>
          </p:cNvPr>
          <p:cNvSpPr txBox="1"/>
          <p:nvPr/>
        </p:nvSpPr>
        <p:spPr>
          <a:xfrm>
            <a:off x="67506" y="1175712"/>
            <a:ext cx="12021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为向客户提供最佳的预测模型，我们在模型训练完成后，又对表现较好的几个模型进行了交叉验证和网格搜索。</a:t>
            </a:r>
            <a:endParaRPr lang="en-US" altLang="zh-CN" dirty="0"/>
          </a:p>
          <a:p>
            <a:r>
              <a:rPr lang="zh-CN" altLang="en-US" dirty="0"/>
              <a:t>但在网格搜索期间，我们发现其及其耗费</a:t>
            </a:r>
            <a:r>
              <a:rPr lang="en-US" altLang="zh-CN" dirty="0" err="1"/>
              <a:t>i</a:t>
            </a:r>
            <a:r>
              <a:rPr lang="zh-CN" altLang="en-US" dirty="0"/>
              <a:t>性能与时间，综合考虑后，我们引入了更加快捷高效的调参框架：</a:t>
            </a:r>
            <a:r>
              <a:rPr lang="en-US" altLang="zh-CN" dirty="0" err="1"/>
              <a:t>Optuna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70DA03B-D08A-49D9-8527-019CEC620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40920"/>
              </p:ext>
            </p:extLst>
          </p:nvPr>
        </p:nvGraphicFramePr>
        <p:xfrm>
          <a:off x="1442856" y="2118479"/>
          <a:ext cx="8128000" cy="93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947395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67803840"/>
                    </a:ext>
                  </a:extLst>
                </a:gridCol>
              </a:tblGrid>
              <a:tr h="931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Optuna</a:t>
                      </a:r>
                      <a:r>
                        <a:rPr lang="zh-CN" altLang="en-US" dirty="0"/>
                        <a:t>：无需手动指定参数，运行速度极快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传统网格交叉验证：需手动指定参数，运行缓慢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27943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9432C70F-687C-A887-781B-878BEB756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16" y="3092466"/>
            <a:ext cx="3712080" cy="3429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EF5C8DB-F759-F364-D491-F1D43CA7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402" y="3213172"/>
            <a:ext cx="4054454" cy="223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61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训练与验证流程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47-d0shp3s75iks832je3ug.png"/>
          <p:cNvPicPr>
            <a:picLocks noChangeAspect="1"/>
          </p:cNvPicPr>
          <p:nvPr/>
        </p:nvPicPr>
        <p:blipFill>
          <a:blip r:embed="rId3"/>
          <a:srcRect t="75" b="75"/>
          <a:stretch/>
        </p:blipFill>
        <p:spPr>
          <a:xfrm>
            <a:off x="1071245" y="1293495"/>
            <a:ext cx="3459480" cy="20999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9955" y="1333500"/>
            <a:ext cx="637349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分层交叉验证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719955" y="1791335"/>
            <a:ext cx="6382385" cy="9509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在模型训练过程中，我们采用了分层K折交叉验证方法，确保每一折中正负样本的比例与原始数据集保持一致，从而提高模型的泛化能力。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6DAECC"/>
          </a:solidFill>
          <a:ln/>
        </p:spPr>
      </p:sp>
      <p:sp>
        <p:nvSpPr>
          <p:cNvPr id="6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1245" y="3766820"/>
            <a:ext cx="637349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零泄漏流程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1245" y="4224655"/>
            <a:ext cx="6382385" cy="6338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为了避免信息泄漏，我们在训练折内独立完成缺失值填补、编码拟合和SMOTE采样，测试折仅进行数据转换，确保模型评估的准确性。</a:t>
            </a:r>
            <a:endParaRPr lang="en-US" sz="1600" dirty="0"/>
          </a:p>
        </p:txBody>
      </p:sp>
      <p:pic>
        <p:nvPicPr>
          <p:cNvPr id="11" name="Image 1" descr="https://test-kimi-img.moonshot.cn/pub/slides/slides_tmpl/image/25-05-30-10:48:50-d0shp4k75iks832je400.png"/>
          <p:cNvPicPr>
            <a:picLocks noChangeAspect="1"/>
          </p:cNvPicPr>
          <p:nvPr/>
        </p:nvPicPr>
        <p:blipFill>
          <a:blip r:embed="rId4"/>
          <a:srcRect t="75" b="75"/>
          <a:stretch/>
        </p:blipFill>
        <p:spPr>
          <a:xfrm>
            <a:off x="7642860" y="3690620"/>
            <a:ext cx="3459480" cy="20999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59180" y="3534410"/>
            <a:ext cx="10080000" cy="0"/>
          </a:xfrm>
          <a:prstGeom prst="line">
            <a:avLst/>
          </a:prstGeom>
          <a:noFill/>
          <a:ln w="19050">
            <a:solidFill>
              <a:srgbClr val="3178A1"/>
            </a:solidFill>
            <a:prstDash val="solid"/>
            <a:headEnd type="none"/>
            <a:tailEnd type="none"/>
          </a:ln>
        </p:spPr>
      </p:sp>
      <p:sp>
        <p:nvSpPr>
          <p:cNvPr id="13" name="Text 9"/>
          <p:cNvSpPr/>
          <p:nvPr/>
        </p:nvSpPr>
        <p:spPr>
          <a:xfrm>
            <a:off x="608330" y="469900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分层交叉验证与零泄漏流程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结果与性能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295C74"/>
          </a:solidFill>
          <a:ln/>
        </p:spPr>
      </p:sp>
      <p:sp>
        <p:nvSpPr>
          <p:cNvPr id="4" name="Text 1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71720" y="3219450"/>
            <a:ext cx="3194685" cy="28454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95C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71720" y="3219450"/>
            <a:ext cx="3194685" cy="28454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93100" y="3244850"/>
            <a:ext cx="3157220" cy="283337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95C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93100" y="3244850"/>
            <a:ext cx="3157220" cy="2833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6200000">
            <a:off x="7375085" y="-681795"/>
            <a:ext cx="72000" cy="5166995"/>
          </a:xfrm>
          <a:prstGeom prst="parallelogram">
            <a:avLst/>
          </a:prstGeom>
          <a:gradFill flip="none" rotWithShape="1">
            <a:gsLst>
              <a:gs pos="0">
                <a:srgbClr val="A8CFE0">
                  <a:alpha val="0"/>
                </a:srgbClr>
              </a:gs>
              <a:gs pos="28000">
                <a:srgbClr val="A8CFE0">
                  <a:alpha val="0"/>
                </a:srgbClr>
              </a:gs>
              <a:gs pos="100000">
                <a:srgbClr val="3178A1"/>
              </a:gs>
            </a:gsLst>
            <a:lin ang="16200000" scaled="1"/>
          </a:gradFill>
          <a:ln/>
        </p:spPr>
      </p:sp>
      <p:sp>
        <p:nvSpPr>
          <p:cNvPr id="10" name="Text 7"/>
          <p:cNvSpPr/>
          <p:nvPr/>
        </p:nvSpPr>
        <p:spPr>
          <a:xfrm rot="16200000">
            <a:off x="7375085" y="-681795"/>
            <a:ext cx="72000" cy="5166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2505" y="1382395"/>
            <a:ext cx="455104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关键指标达成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2505" y="1976755"/>
            <a:ext cx="6647815" cy="6295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通过采用CatBoost+SMOTE</a:t>
            </a:r>
            <a:r>
              <a:rPr lang="en-US" altLang="zh-CN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</a:t>
            </a: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+阈值策略，我们的模型成功实现了健康人群零漏诊的目标，少数类Recall达到1.00，AUC值高达0.998。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48250" y="3526155"/>
            <a:ext cx="3100705" cy="245467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性能全面提升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13750" y="3526155"/>
            <a:ext cx="3100705" cy="245467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结果意义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48250" y="3935095"/>
            <a:ext cx="2872740" cy="1143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与基线模型相比，我们的模型在Recall上提升了19.2%，F1值提升了12.6%，整体准确率Acc达到0.984，显示出显著的性能提升。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13750" y="3935095"/>
            <a:ext cx="2872740" cy="857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这些结果表明，我们的技术路线与业务目标高度契合，为医疗早筛提供了一个高效、可靠的解决方案。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8810" y="469900"/>
            <a:ext cx="1078293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零漏诊达成与指标全面提升</a:t>
            </a:r>
            <a:endParaRPr lang="en-US" sz="16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448799A-D5AE-1DBE-590F-4E00BDF3D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29" y="1225297"/>
            <a:ext cx="4366076" cy="48529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系统架构与实现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367916" y="1062304"/>
            <a:ext cx="1357317" cy="1357318"/>
          </a:xfrm>
          <a:custGeom>
            <a:avLst/>
            <a:gdLst/>
            <a:ahLst/>
            <a:cxnLst/>
            <a:rect l="l" t="t" r="r" b="b"/>
            <a:pathLst>
              <a:path w="1357317" h="1357318">
                <a:moveTo>
                  <a:pt x="497288" y="1333638"/>
                </a:moveTo>
                <a:cubicBezTo>
                  <a:pt x="497288" y="1333638"/>
                  <a:pt x="497288" y="1333638"/>
                  <a:pt x="860028" y="1333638"/>
                </a:cubicBezTo>
                <a:cubicBezTo>
                  <a:pt x="802893" y="1349425"/>
                  <a:pt x="741772" y="1357318"/>
                  <a:pt x="677994" y="1357318"/>
                </a:cubicBezTo>
                <a:cubicBezTo>
                  <a:pt x="615544" y="1357318"/>
                  <a:pt x="554422" y="1349425"/>
                  <a:pt x="497288" y="1333638"/>
                </a:cubicBezTo>
                <a:close/>
                <a:moveTo>
                  <a:pt x="337983" y="1265826"/>
                </a:moveTo>
                <a:lnTo>
                  <a:pt x="1018256" y="1265826"/>
                </a:lnTo>
                <a:cubicBezTo>
                  <a:pt x="990409" y="1281569"/>
                  <a:pt x="962561" y="1295998"/>
                  <a:pt x="932062" y="1307805"/>
                </a:cubicBezTo>
                <a:cubicBezTo>
                  <a:pt x="932062" y="1307805"/>
                  <a:pt x="932062" y="1307805"/>
                  <a:pt x="422852" y="1307805"/>
                </a:cubicBezTo>
                <a:cubicBezTo>
                  <a:pt x="393678" y="1295998"/>
                  <a:pt x="364505" y="1281569"/>
                  <a:pt x="337983" y="1265826"/>
                </a:cubicBezTo>
                <a:close/>
                <a:moveTo>
                  <a:pt x="242186" y="1199090"/>
                </a:moveTo>
                <a:lnTo>
                  <a:pt x="1114055" y="1199090"/>
                </a:lnTo>
                <a:cubicBezTo>
                  <a:pt x="1095476" y="1213604"/>
                  <a:pt x="1076898" y="1226799"/>
                  <a:pt x="1058319" y="1239993"/>
                </a:cubicBezTo>
                <a:cubicBezTo>
                  <a:pt x="1058319" y="1239993"/>
                  <a:pt x="1058319" y="1239993"/>
                  <a:pt x="297921" y="1239993"/>
                </a:cubicBezTo>
                <a:cubicBezTo>
                  <a:pt x="278016" y="1226799"/>
                  <a:pt x="259437" y="1213604"/>
                  <a:pt x="242186" y="1199090"/>
                </a:cubicBezTo>
                <a:close/>
                <a:moveTo>
                  <a:pt x="173297" y="1131278"/>
                </a:moveTo>
                <a:lnTo>
                  <a:pt x="1182943" y="1131278"/>
                </a:lnTo>
                <a:cubicBezTo>
                  <a:pt x="1169676" y="1146078"/>
                  <a:pt x="1156408" y="1160878"/>
                  <a:pt x="1141814" y="1174333"/>
                </a:cubicBezTo>
                <a:cubicBezTo>
                  <a:pt x="1141814" y="1174333"/>
                  <a:pt x="1141814" y="1174333"/>
                  <a:pt x="214426" y="1174333"/>
                </a:cubicBezTo>
                <a:cubicBezTo>
                  <a:pt x="199832" y="1160878"/>
                  <a:pt x="185238" y="1146078"/>
                  <a:pt x="173297" y="1131278"/>
                </a:cubicBezTo>
                <a:close/>
                <a:moveTo>
                  <a:pt x="120554" y="1065619"/>
                </a:moveTo>
                <a:lnTo>
                  <a:pt x="1236762" y="1065619"/>
                </a:lnTo>
                <a:cubicBezTo>
                  <a:pt x="1226144" y="1080132"/>
                  <a:pt x="1216853" y="1093327"/>
                  <a:pt x="1204908" y="1106521"/>
                </a:cubicBezTo>
                <a:cubicBezTo>
                  <a:pt x="1204908" y="1106521"/>
                  <a:pt x="1204908" y="1106521"/>
                  <a:pt x="151081" y="1106521"/>
                </a:cubicBezTo>
                <a:cubicBezTo>
                  <a:pt x="140463" y="1093327"/>
                  <a:pt x="129845" y="1080132"/>
                  <a:pt x="120554" y="1065619"/>
                </a:cubicBezTo>
                <a:close/>
                <a:moveTo>
                  <a:pt x="79652" y="997806"/>
                </a:moveTo>
                <a:lnTo>
                  <a:pt x="1277664" y="997806"/>
                </a:lnTo>
                <a:cubicBezTo>
                  <a:pt x="1269704" y="1012236"/>
                  <a:pt x="1261744" y="1026667"/>
                  <a:pt x="1252457" y="1039786"/>
                </a:cubicBezTo>
                <a:cubicBezTo>
                  <a:pt x="1252457" y="1039786"/>
                  <a:pt x="1252457" y="1039786"/>
                  <a:pt x="103532" y="1039786"/>
                </a:cubicBezTo>
                <a:cubicBezTo>
                  <a:pt x="95572" y="1026667"/>
                  <a:pt x="87612" y="1012236"/>
                  <a:pt x="79652" y="997806"/>
                </a:cubicBezTo>
                <a:close/>
                <a:moveTo>
                  <a:pt x="47360" y="931071"/>
                </a:moveTo>
                <a:lnTo>
                  <a:pt x="1307803" y="931071"/>
                </a:lnTo>
                <a:cubicBezTo>
                  <a:pt x="1302496" y="944265"/>
                  <a:pt x="1295862" y="958779"/>
                  <a:pt x="1289228" y="971973"/>
                </a:cubicBezTo>
                <a:cubicBezTo>
                  <a:pt x="1289228" y="971973"/>
                  <a:pt x="1289228" y="971973"/>
                  <a:pt x="65935" y="971973"/>
                </a:cubicBezTo>
                <a:cubicBezTo>
                  <a:pt x="59301" y="958779"/>
                  <a:pt x="53994" y="944265"/>
                  <a:pt x="47360" y="931071"/>
                </a:cubicBezTo>
                <a:close/>
                <a:moveTo>
                  <a:pt x="24756" y="863259"/>
                </a:moveTo>
                <a:lnTo>
                  <a:pt x="1331484" y="863259"/>
                </a:lnTo>
                <a:cubicBezTo>
                  <a:pt x="1327504" y="878059"/>
                  <a:pt x="1322197" y="892859"/>
                  <a:pt x="1316891" y="906314"/>
                </a:cubicBezTo>
                <a:cubicBezTo>
                  <a:pt x="1316891" y="906314"/>
                  <a:pt x="1316891" y="906314"/>
                  <a:pt x="38023" y="906314"/>
                </a:cubicBezTo>
                <a:cubicBezTo>
                  <a:pt x="32716" y="892859"/>
                  <a:pt x="28737" y="878059"/>
                  <a:pt x="24756" y="863259"/>
                </a:cubicBezTo>
                <a:close/>
                <a:moveTo>
                  <a:pt x="8610" y="797599"/>
                </a:moveTo>
                <a:lnTo>
                  <a:pt x="1346553" y="797599"/>
                </a:lnTo>
                <a:cubicBezTo>
                  <a:pt x="1343898" y="810793"/>
                  <a:pt x="1341243" y="825307"/>
                  <a:pt x="1338588" y="838502"/>
                </a:cubicBezTo>
                <a:cubicBezTo>
                  <a:pt x="1338588" y="838502"/>
                  <a:pt x="1338588" y="838502"/>
                  <a:pt x="17901" y="838502"/>
                </a:cubicBezTo>
                <a:cubicBezTo>
                  <a:pt x="15247" y="825307"/>
                  <a:pt x="11265" y="810793"/>
                  <a:pt x="8610" y="797599"/>
                </a:cubicBezTo>
                <a:close/>
                <a:moveTo>
                  <a:pt x="1076" y="729788"/>
                </a:moveTo>
                <a:lnTo>
                  <a:pt x="1356240" y="729788"/>
                </a:lnTo>
                <a:cubicBezTo>
                  <a:pt x="1354913" y="744218"/>
                  <a:pt x="1353586" y="758648"/>
                  <a:pt x="1350931" y="771767"/>
                </a:cubicBezTo>
                <a:cubicBezTo>
                  <a:pt x="1350931" y="771767"/>
                  <a:pt x="1350931" y="771767"/>
                  <a:pt x="6385" y="771767"/>
                </a:cubicBezTo>
                <a:cubicBezTo>
                  <a:pt x="3731" y="758648"/>
                  <a:pt x="2404" y="744218"/>
                  <a:pt x="1076" y="729788"/>
                </a:cubicBezTo>
                <a:close/>
                <a:moveTo>
                  <a:pt x="0" y="663052"/>
                </a:moveTo>
                <a:cubicBezTo>
                  <a:pt x="0" y="663052"/>
                  <a:pt x="0" y="663052"/>
                  <a:pt x="1357317" y="663052"/>
                </a:cubicBezTo>
                <a:cubicBezTo>
                  <a:pt x="1357317" y="668434"/>
                  <a:pt x="1357317" y="672470"/>
                  <a:pt x="1357317" y="677852"/>
                </a:cubicBezTo>
                <a:cubicBezTo>
                  <a:pt x="1357317" y="687271"/>
                  <a:pt x="1357317" y="696689"/>
                  <a:pt x="1357317" y="706107"/>
                </a:cubicBezTo>
                <a:cubicBezTo>
                  <a:pt x="1357317" y="706107"/>
                  <a:pt x="1357317" y="706107"/>
                  <a:pt x="0" y="706107"/>
                </a:cubicBezTo>
                <a:cubicBezTo>
                  <a:pt x="0" y="696689"/>
                  <a:pt x="0" y="687271"/>
                  <a:pt x="0" y="677852"/>
                </a:cubicBezTo>
                <a:cubicBezTo>
                  <a:pt x="0" y="672470"/>
                  <a:pt x="0" y="668434"/>
                  <a:pt x="0" y="663052"/>
                </a:cubicBezTo>
                <a:close/>
                <a:moveTo>
                  <a:pt x="3731" y="595240"/>
                </a:moveTo>
                <a:lnTo>
                  <a:pt x="1352258" y="595240"/>
                </a:lnTo>
                <a:cubicBezTo>
                  <a:pt x="1354913" y="610040"/>
                  <a:pt x="1354913" y="623495"/>
                  <a:pt x="1356240" y="638295"/>
                </a:cubicBezTo>
                <a:cubicBezTo>
                  <a:pt x="1356240" y="638295"/>
                  <a:pt x="1356240" y="638295"/>
                  <a:pt x="1076" y="638295"/>
                </a:cubicBezTo>
                <a:cubicBezTo>
                  <a:pt x="1076" y="623495"/>
                  <a:pt x="2404" y="610040"/>
                  <a:pt x="3731" y="595240"/>
                </a:cubicBezTo>
                <a:close/>
                <a:moveTo>
                  <a:pt x="15494" y="529581"/>
                </a:moveTo>
                <a:lnTo>
                  <a:pt x="1340746" y="529581"/>
                </a:lnTo>
                <a:cubicBezTo>
                  <a:pt x="1343400" y="542699"/>
                  <a:pt x="1346053" y="557129"/>
                  <a:pt x="1348706" y="571560"/>
                </a:cubicBezTo>
                <a:cubicBezTo>
                  <a:pt x="1348706" y="571560"/>
                  <a:pt x="1348706" y="571560"/>
                  <a:pt x="7534" y="571560"/>
                </a:cubicBezTo>
                <a:cubicBezTo>
                  <a:pt x="10187" y="557129"/>
                  <a:pt x="12841" y="542699"/>
                  <a:pt x="15494" y="529581"/>
                </a:cubicBezTo>
                <a:close/>
                <a:moveTo>
                  <a:pt x="34544" y="461768"/>
                </a:moveTo>
                <a:lnTo>
                  <a:pt x="1322772" y="461768"/>
                </a:lnTo>
                <a:cubicBezTo>
                  <a:pt x="1326753" y="476198"/>
                  <a:pt x="1330733" y="489317"/>
                  <a:pt x="1334713" y="503747"/>
                </a:cubicBezTo>
                <a:cubicBezTo>
                  <a:pt x="1334713" y="503747"/>
                  <a:pt x="1334713" y="503747"/>
                  <a:pt x="22604" y="503747"/>
                </a:cubicBezTo>
                <a:cubicBezTo>
                  <a:pt x="25257" y="489317"/>
                  <a:pt x="30564" y="476198"/>
                  <a:pt x="34544" y="461768"/>
                </a:cubicBezTo>
                <a:close/>
                <a:moveTo>
                  <a:pt x="60308" y="395033"/>
                </a:moveTo>
                <a:lnTo>
                  <a:pt x="1294604" y="395033"/>
                </a:lnTo>
                <a:cubicBezTo>
                  <a:pt x="1301240" y="408487"/>
                  <a:pt x="1307876" y="423288"/>
                  <a:pt x="1313185" y="438088"/>
                </a:cubicBezTo>
                <a:cubicBezTo>
                  <a:pt x="1313185" y="438088"/>
                  <a:pt x="1313185" y="438088"/>
                  <a:pt x="43055" y="438088"/>
                </a:cubicBezTo>
                <a:cubicBezTo>
                  <a:pt x="48364" y="423288"/>
                  <a:pt x="53672" y="408487"/>
                  <a:pt x="60308" y="395033"/>
                </a:cubicBezTo>
                <a:close/>
                <a:moveTo>
                  <a:pt x="97072" y="327221"/>
                </a:moveTo>
                <a:lnTo>
                  <a:pt x="1260494" y="327221"/>
                </a:lnTo>
                <a:cubicBezTo>
                  <a:pt x="1268454" y="342021"/>
                  <a:pt x="1276413" y="355476"/>
                  <a:pt x="1283046" y="370276"/>
                </a:cubicBezTo>
                <a:cubicBezTo>
                  <a:pt x="1283046" y="370276"/>
                  <a:pt x="1283046" y="370276"/>
                  <a:pt x="73193" y="370276"/>
                </a:cubicBezTo>
                <a:cubicBezTo>
                  <a:pt x="81153" y="355476"/>
                  <a:pt x="89112" y="342021"/>
                  <a:pt x="97072" y="327221"/>
                </a:cubicBezTo>
                <a:close/>
                <a:moveTo>
                  <a:pt x="143523" y="261561"/>
                </a:moveTo>
                <a:lnTo>
                  <a:pt x="1213793" y="261561"/>
                </a:lnTo>
                <a:cubicBezTo>
                  <a:pt x="1224403" y="274680"/>
                  <a:pt x="1235013" y="289110"/>
                  <a:pt x="1244297" y="303540"/>
                </a:cubicBezTo>
                <a:cubicBezTo>
                  <a:pt x="1244297" y="303540"/>
                  <a:pt x="1244297" y="303540"/>
                  <a:pt x="113020" y="303540"/>
                </a:cubicBezTo>
                <a:cubicBezTo>
                  <a:pt x="122303" y="289110"/>
                  <a:pt x="132913" y="274680"/>
                  <a:pt x="143523" y="261561"/>
                </a:cubicBezTo>
                <a:close/>
                <a:moveTo>
                  <a:pt x="202347" y="194825"/>
                </a:moveTo>
                <a:cubicBezTo>
                  <a:pt x="202347" y="194825"/>
                  <a:pt x="202347" y="194825"/>
                  <a:pt x="1153893" y="194825"/>
                </a:cubicBezTo>
                <a:cubicBezTo>
                  <a:pt x="1167165" y="208019"/>
                  <a:pt x="1180436" y="221214"/>
                  <a:pt x="1193707" y="235728"/>
                </a:cubicBezTo>
                <a:cubicBezTo>
                  <a:pt x="1193707" y="235728"/>
                  <a:pt x="1193707" y="235728"/>
                  <a:pt x="162533" y="235728"/>
                </a:cubicBezTo>
                <a:cubicBezTo>
                  <a:pt x="174478" y="221214"/>
                  <a:pt x="187749" y="208019"/>
                  <a:pt x="202347" y="194825"/>
                </a:cubicBezTo>
                <a:close/>
                <a:moveTo>
                  <a:pt x="281045" y="127014"/>
                </a:moveTo>
                <a:lnTo>
                  <a:pt x="1074944" y="127014"/>
                </a:lnTo>
                <a:cubicBezTo>
                  <a:pt x="1093530" y="140469"/>
                  <a:pt x="1110789" y="155269"/>
                  <a:pt x="1128047" y="170069"/>
                </a:cubicBezTo>
                <a:cubicBezTo>
                  <a:pt x="1128047" y="170069"/>
                  <a:pt x="1128047" y="170069"/>
                  <a:pt x="229269" y="170069"/>
                </a:cubicBezTo>
                <a:cubicBezTo>
                  <a:pt x="245200" y="155269"/>
                  <a:pt x="263786" y="140469"/>
                  <a:pt x="281045" y="127014"/>
                </a:cubicBezTo>
                <a:close/>
                <a:moveTo>
                  <a:pt x="396878" y="61354"/>
                </a:moveTo>
                <a:lnTo>
                  <a:pt x="959362" y="61354"/>
                </a:lnTo>
                <a:cubicBezTo>
                  <a:pt x="987220" y="73229"/>
                  <a:pt x="1012426" y="86423"/>
                  <a:pt x="1037631" y="102257"/>
                </a:cubicBezTo>
                <a:cubicBezTo>
                  <a:pt x="1037631" y="102257"/>
                  <a:pt x="1037631" y="102257"/>
                  <a:pt x="318608" y="102257"/>
                </a:cubicBezTo>
                <a:cubicBezTo>
                  <a:pt x="343814" y="86423"/>
                  <a:pt x="370346" y="73229"/>
                  <a:pt x="396878" y="61354"/>
                </a:cubicBezTo>
                <a:close/>
                <a:moveTo>
                  <a:pt x="677581" y="0"/>
                </a:moveTo>
                <a:cubicBezTo>
                  <a:pt x="754578" y="0"/>
                  <a:pt x="827593" y="11841"/>
                  <a:pt x="896625" y="35521"/>
                </a:cubicBezTo>
                <a:cubicBezTo>
                  <a:pt x="896625" y="35521"/>
                  <a:pt x="896625" y="35521"/>
                  <a:pt x="458538" y="35521"/>
                </a:cubicBezTo>
                <a:cubicBezTo>
                  <a:pt x="527570" y="11841"/>
                  <a:pt x="601912" y="0"/>
                  <a:pt x="677581" y="0"/>
                </a:cubicBezTo>
                <a:close/>
              </a:path>
            </a:pathLst>
          </a:custGeom>
          <a:gradFill flip="none" rotWithShape="1">
            <a:gsLst>
              <a:gs pos="0">
                <a:srgbClr val="6DAECC">
                  <a:alpha val="34000"/>
                </a:srgbClr>
              </a:gs>
              <a:gs pos="76000">
                <a:srgbClr val="6DAECC">
                  <a:alpha val="3000"/>
                </a:srgbClr>
              </a:gs>
              <a:gs pos="100000">
                <a:srgbClr val="6DAECC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 rot="1800000">
            <a:off x="367916" y="1062304"/>
            <a:ext cx="1357317" cy="13573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93715" y="0"/>
            <a:ext cx="6598285" cy="6853555"/>
          </a:xfrm>
          <a:custGeom>
            <a:avLst/>
            <a:gdLst/>
            <a:ahLst/>
            <a:cxnLst/>
            <a:rect l="l" t="t" r="r" b="b"/>
            <a:pathLst>
              <a:path w="6598285" h="6853555">
                <a:moveTo>
                  <a:pt x="1058425" y="0"/>
                </a:moveTo>
                <a:lnTo>
                  <a:pt x="6598285" y="0"/>
                </a:lnTo>
                <a:lnTo>
                  <a:pt x="6598285" y="6853555"/>
                </a:lnTo>
                <a:lnTo>
                  <a:pt x="1136835" y="6853555"/>
                </a:lnTo>
                <a:lnTo>
                  <a:pt x="1008283" y="6678901"/>
                </a:lnTo>
                <a:cubicBezTo>
                  <a:pt x="378388" y="5780658"/>
                  <a:pt x="0" y="4629089"/>
                  <a:pt x="0" y="3373514"/>
                </a:cubicBezTo>
                <a:cubicBezTo>
                  <a:pt x="0" y="2117938"/>
                  <a:pt x="378387" y="966368"/>
                  <a:pt x="1008281" y="68125"/>
                </a:cubicBezTo>
                <a:close/>
              </a:path>
            </a:pathLst>
          </a:custGeom>
          <a:solidFill>
            <a:srgbClr val="6DAECC"/>
          </a:solidFill>
          <a:ln/>
        </p:spPr>
      </p:sp>
      <p:sp>
        <p:nvSpPr>
          <p:cNvPr id="5" name="Text 3"/>
          <p:cNvSpPr/>
          <p:nvPr/>
        </p:nvSpPr>
        <p:spPr>
          <a:xfrm>
            <a:off x="5593715" y="0"/>
            <a:ext cx="6598285" cy="68535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2155" y="1543050"/>
            <a:ext cx="10728325" cy="4410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blurRad="266700" dist="76200" dir="2700000" algn="bl" rotWithShape="0">
              <a:srgbClr val="017ED5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2155" y="1543050"/>
            <a:ext cx="10728325" cy="4410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3305" y="4949190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3305" y="4949190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23897" y="5029214"/>
            <a:ext cx="470007" cy="466697"/>
          </a:xfrm>
          <a:prstGeom prst="ellipse">
            <a:avLst/>
          </a:prstGeom>
          <a:solidFill>
            <a:srgbClr val="6DAECC">
              <a:alpha val="18039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23897" y="5029214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8996" y="5103784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98996" y="5103784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185293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185293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205052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205052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H="1">
            <a:off x="2248114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2248114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flipH="1">
            <a:off x="2445706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2445706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643298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2643298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 flipH="1">
            <a:off x="284089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284089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flipH="1">
            <a:off x="303848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303848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flipH="1">
            <a:off x="3236071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3236071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2570" y="191198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双Flask服务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15110" y="2399665"/>
            <a:ext cx="2301875" cy="2583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我们构建了两个Flask服务，分别用于甲状腺疾病预测和心脏病预测。甲状腺服务监听5000端口，心脏病服务监听5001端口，提供多种API接口，满足不同需求。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flipH="1">
            <a:off x="508508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508508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flipH="1">
            <a:off x="528267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35" name="Text 33"/>
          <p:cNvSpPr/>
          <p:nvPr/>
        </p:nvSpPr>
        <p:spPr>
          <a:xfrm>
            <a:off x="528267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H="1">
            <a:off x="5480264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5480264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 flipH="1">
            <a:off x="5677856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5677856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 flipH="1">
            <a:off x="5875448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41" name="Text 39"/>
          <p:cNvSpPr/>
          <p:nvPr/>
        </p:nvSpPr>
        <p:spPr>
          <a:xfrm>
            <a:off x="5875448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 flipH="1">
            <a:off x="607304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07304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 flipH="1">
            <a:off x="627063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45" name="Text 43"/>
          <p:cNvSpPr/>
          <p:nvPr/>
        </p:nvSpPr>
        <p:spPr>
          <a:xfrm>
            <a:off x="627063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 flipH="1">
            <a:off x="6468221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6468221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693920" y="188531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MySQL持久化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747260" y="2372995"/>
            <a:ext cx="2301875" cy="2583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心脏病预测结果将实时写入MySQL数据库的heart_predictions表中，方便数据存储和后续分析，实现数据的持久化管理。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 flipH="1">
            <a:off x="840232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840232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 flipH="1">
            <a:off x="859991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53" name="Text 51"/>
          <p:cNvSpPr/>
          <p:nvPr/>
        </p:nvSpPr>
        <p:spPr>
          <a:xfrm>
            <a:off x="859991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 flipH="1">
            <a:off x="8797504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55" name="Text 53"/>
          <p:cNvSpPr/>
          <p:nvPr/>
        </p:nvSpPr>
        <p:spPr>
          <a:xfrm>
            <a:off x="8797504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 flipH="1">
            <a:off x="8995096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57" name="Text 55"/>
          <p:cNvSpPr/>
          <p:nvPr/>
        </p:nvSpPr>
        <p:spPr>
          <a:xfrm>
            <a:off x="8995096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 flipH="1">
            <a:off x="9192688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59" name="Text 57"/>
          <p:cNvSpPr/>
          <p:nvPr/>
        </p:nvSpPr>
        <p:spPr>
          <a:xfrm>
            <a:off x="9192688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939028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61" name="Text 59"/>
          <p:cNvSpPr/>
          <p:nvPr/>
        </p:nvSpPr>
        <p:spPr>
          <a:xfrm>
            <a:off x="939028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 flipH="1">
            <a:off x="958787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63" name="Text 61"/>
          <p:cNvSpPr/>
          <p:nvPr/>
        </p:nvSpPr>
        <p:spPr>
          <a:xfrm>
            <a:off x="958787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 flipH="1">
            <a:off x="9785461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AAE"/>
              </a:gs>
              <a:gs pos="100000">
                <a:srgbClr val="255A79"/>
              </a:gs>
            </a:gsLst>
            <a:lin ang="0" scaled="1"/>
          </a:gradFill>
          <a:ln/>
        </p:spPr>
      </p:sp>
      <p:sp>
        <p:nvSpPr>
          <p:cNvPr id="65" name="Text 63"/>
          <p:cNvSpPr/>
          <p:nvPr/>
        </p:nvSpPr>
        <p:spPr>
          <a:xfrm>
            <a:off x="9785461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061960" y="184594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前端与CORS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064500" y="2333625"/>
            <a:ext cx="2301875" cy="2583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我们开发了一个简易的前端表单页面，用户可以通过该页面输入数据并获取预测结果。同时，启用了CORS，确保前后端的无缝对接。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6DAECC"/>
          </a:solidFill>
          <a:ln/>
        </p:spPr>
      </p:sp>
      <p:sp>
        <p:nvSpPr>
          <p:cNvPr id="69" name="Text 67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180840" y="484822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180840" y="484822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261432" y="4928249"/>
            <a:ext cx="470007" cy="466697"/>
          </a:xfrm>
          <a:prstGeom prst="ellipse">
            <a:avLst/>
          </a:prstGeom>
          <a:solidFill>
            <a:srgbClr val="6DAECC">
              <a:alpha val="18039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4261432" y="492824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336531" y="500281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336531" y="500281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498080" y="483806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498080" y="483806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578672" y="4918089"/>
            <a:ext cx="470007" cy="466697"/>
          </a:xfrm>
          <a:prstGeom prst="ellipse">
            <a:avLst/>
          </a:prstGeom>
          <a:solidFill>
            <a:srgbClr val="6DAECC">
              <a:alpha val="18039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7578672" y="491808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653771" y="499265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653771" y="499265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4" name="Image 0" descr="https://test-kimi-img.moonshot.cn/pub/slides/slides_tmpl/image/25-05-30-10:48:57-d0shp6c75iks832je4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85" y="2070735"/>
            <a:ext cx="18415" cy="2688590"/>
          </a:xfrm>
          <a:prstGeom prst="rect">
            <a:avLst/>
          </a:prstGeom>
        </p:spPr>
      </p:pic>
      <p:pic>
        <p:nvPicPr>
          <p:cNvPr id="85" name="Image 1" descr="https://test-kimi-img.moonshot.cn/pub/slides/slides_tmpl/image/25-05-30-10:48:57-d0shp6c75iks832je4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355" y="2070735"/>
            <a:ext cx="18415" cy="2688590"/>
          </a:xfrm>
          <a:prstGeom prst="rect">
            <a:avLst/>
          </a:prstGeom>
        </p:spPr>
      </p:pic>
      <p:pic>
        <p:nvPicPr>
          <p:cNvPr id="86" name="Image 2" descr="https://test-kimi-img.moonshot.cn/pub/slides/slides_tmpl/image/25-05-30-10:48:57-d0shp6c75iks832je4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205" y="2070735"/>
            <a:ext cx="18415" cy="2688590"/>
          </a:xfrm>
          <a:prstGeom prst="rect">
            <a:avLst/>
          </a:prstGeom>
        </p:spPr>
      </p:pic>
      <p:sp>
        <p:nvSpPr>
          <p:cNvPr id="87" name="Shape 82"/>
          <p:cNvSpPr/>
          <p:nvPr/>
        </p:nvSpPr>
        <p:spPr>
          <a:xfrm>
            <a:off x="1196975" y="1911985"/>
            <a:ext cx="227330" cy="215265"/>
          </a:xfrm>
          <a:prstGeom prst="ellipse">
            <a:avLst/>
          </a:prstGeom>
          <a:solidFill>
            <a:srgbClr val="255A79"/>
          </a:solidFill>
          <a:ln w="19050">
            <a:gradFill flip="none" rotWithShape="1">
              <a:gsLst>
                <a:gs pos="0">
                  <a:srgbClr val="6DAECC">
                    <a:alpha val="0"/>
                  </a:srgbClr>
                </a:gs>
                <a:gs pos="15000">
                  <a:srgbClr val="6DAECC">
                    <a:alpha val="0"/>
                  </a:srgbClr>
                </a:gs>
                <a:gs pos="100000">
                  <a:srgbClr val="295C74"/>
                </a:gs>
              </a:gsLst>
              <a:lin ang="10740000" scaled="1"/>
            </a:gra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1196975" y="191198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9" name="Shape 84"/>
          <p:cNvSpPr/>
          <p:nvPr/>
        </p:nvSpPr>
        <p:spPr>
          <a:xfrm>
            <a:off x="4398645" y="1885315"/>
            <a:ext cx="227330" cy="215265"/>
          </a:xfrm>
          <a:prstGeom prst="ellipse">
            <a:avLst/>
          </a:prstGeom>
          <a:solidFill>
            <a:srgbClr val="255A79"/>
          </a:solidFill>
          <a:ln w="19050">
            <a:gradFill flip="none" rotWithShape="1">
              <a:gsLst>
                <a:gs pos="0">
                  <a:srgbClr val="6DAECC">
                    <a:alpha val="0"/>
                  </a:srgbClr>
                </a:gs>
                <a:gs pos="15000">
                  <a:srgbClr val="6DAECC">
                    <a:alpha val="0"/>
                  </a:srgbClr>
                </a:gs>
                <a:gs pos="100000">
                  <a:srgbClr val="295C74"/>
                </a:gs>
              </a:gsLst>
              <a:lin ang="10740000" scaled="1"/>
            </a:gra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4398645" y="188531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1" name="Shape 86"/>
          <p:cNvSpPr/>
          <p:nvPr/>
        </p:nvSpPr>
        <p:spPr>
          <a:xfrm>
            <a:off x="7746365" y="1845945"/>
            <a:ext cx="227330" cy="215265"/>
          </a:xfrm>
          <a:prstGeom prst="ellipse">
            <a:avLst/>
          </a:prstGeom>
          <a:solidFill>
            <a:srgbClr val="255A79"/>
          </a:solidFill>
          <a:ln w="19050">
            <a:gradFill flip="none" rotWithShape="1">
              <a:gsLst>
                <a:gs pos="0">
                  <a:srgbClr val="6DAECC">
                    <a:alpha val="0"/>
                  </a:srgbClr>
                </a:gs>
                <a:gs pos="15000">
                  <a:srgbClr val="6DAECC">
                    <a:alpha val="0"/>
                  </a:srgbClr>
                </a:gs>
                <a:gs pos="100000">
                  <a:srgbClr val="295C74"/>
                </a:gs>
              </a:gsLst>
              <a:lin ang="10740000" scaled="1"/>
            </a:gra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7746365" y="184594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3" name="Text 88"/>
          <p:cNvSpPr/>
          <p:nvPr/>
        </p:nvSpPr>
        <p:spPr>
          <a:xfrm>
            <a:off x="63881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双Flask服务与MySQL持久化架构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4279E-AB84-FC3F-333C-DA1B88726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06CA7C-AC3B-2EF3-FD50-CEC0226AC59E}"/>
              </a:ext>
            </a:extLst>
          </p:cNvPr>
          <p:cNvSpPr/>
          <p:nvPr/>
        </p:nvSpPr>
        <p:spPr>
          <a:xfrm rot="1800000">
            <a:off x="367916" y="1062304"/>
            <a:ext cx="1357317" cy="1357318"/>
          </a:xfrm>
          <a:custGeom>
            <a:avLst/>
            <a:gdLst/>
            <a:ahLst/>
            <a:cxnLst/>
            <a:rect l="l" t="t" r="r" b="b"/>
            <a:pathLst>
              <a:path w="1357317" h="1357318">
                <a:moveTo>
                  <a:pt x="497288" y="1333638"/>
                </a:moveTo>
                <a:cubicBezTo>
                  <a:pt x="497288" y="1333638"/>
                  <a:pt x="497288" y="1333638"/>
                  <a:pt x="860028" y="1333638"/>
                </a:cubicBezTo>
                <a:cubicBezTo>
                  <a:pt x="802893" y="1349425"/>
                  <a:pt x="741772" y="1357318"/>
                  <a:pt x="677994" y="1357318"/>
                </a:cubicBezTo>
                <a:cubicBezTo>
                  <a:pt x="615544" y="1357318"/>
                  <a:pt x="554422" y="1349425"/>
                  <a:pt x="497288" y="1333638"/>
                </a:cubicBezTo>
                <a:close/>
                <a:moveTo>
                  <a:pt x="337983" y="1265826"/>
                </a:moveTo>
                <a:lnTo>
                  <a:pt x="1018256" y="1265826"/>
                </a:lnTo>
                <a:cubicBezTo>
                  <a:pt x="990409" y="1281569"/>
                  <a:pt x="962561" y="1295998"/>
                  <a:pt x="932062" y="1307805"/>
                </a:cubicBezTo>
                <a:cubicBezTo>
                  <a:pt x="932062" y="1307805"/>
                  <a:pt x="932062" y="1307805"/>
                  <a:pt x="422852" y="1307805"/>
                </a:cubicBezTo>
                <a:cubicBezTo>
                  <a:pt x="393678" y="1295998"/>
                  <a:pt x="364505" y="1281569"/>
                  <a:pt x="337983" y="1265826"/>
                </a:cubicBezTo>
                <a:close/>
                <a:moveTo>
                  <a:pt x="242186" y="1199090"/>
                </a:moveTo>
                <a:lnTo>
                  <a:pt x="1114055" y="1199090"/>
                </a:lnTo>
                <a:cubicBezTo>
                  <a:pt x="1095476" y="1213604"/>
                  <a:pt x="1076898" y="1226799"/>
                  <a:pt x="1058319" y="1239993"/>
                </a:cubicBezTo>
                <a:cubicBezTo>
                  <a:pt x="1058319" y="1239993"/>
                  <a:pt x="1058319" y="1239993"/>
                  <a:pt x="297921" y="1239993"/>
                </a:cubicBezTo>
                <a:cubicBezTo>
                  <a:pt x="278016" y="1226799"/>
                  <a:pt x="259437" y="1213604"/>
                  <a:pt x="242186" y="1199090"/>
                </a:cubicBezTo>
                <a:close/>
                <a:moveTo>
                  <a:pt x="173297" y="1131278"/>
                </a:moveTo>
                <a:lnTo>
                  <a:pt x="1182943" y="1131278"/>
                </a:lnTo>
                <a:cubicBezTo>
                  <a:pt x="1169676" y="1146078"/>
                  <a:pt x="1156408" y="1160878"/>
                  <a:pt x="1141814" y="1174333"/>
                </a:cubicBezTo>
                <a:cubicBezTo>
                  <a:pt x="1141814" y="1174333"/>
                  <a:pt x="1141814" y="1174333"/>
                  <a:pt x="214426" y="1174333"/>
                </a:cubicBezTo>
                <a:cubicBezTo>
                  <a:pt x="199832" y="1160878"/>
                  <a:pt x="185238" y="1146078"/>
                  <a:pt x="173297" y="1131278"/>
                </a:cubicBezTo>
                <a:close/>
                <a:moveTo>
                  <a:pt x="120554" y="1065619"/>
                </a:moveTo>
                <a:lnTo>
                  <a:pt x="1236762" y="1065619"/>
                </a:lnTo>
                <a:cubicBezTo>
                  <a:pt x="1226144" y="1080132"/>
                  <a:pt x="1216853" y="1093327"/>
                  <a:pt x="1204908" y="1106521"/>
                </a:cubicBezTo>
                <a:cubicBezTo>
                  <a:pt x="1204908" y="1106521"/>
                  <a:pt x="1204908" y="1106521"/>
                  <a:pt x="151081" y="1106521"/>
                </a:cubicBezTo>
                <a:cubicBezTo>
                  <a:pt x="140463" y="1093327"/>
                  <a:pt x="129845" y="1080132"/>
                  <a:pt x="120554" y="1065619"/>
                </a:cubicBezTo>
                <a:close/>
                <a:moveTo>
                  <a:pt x="79652" y="997806"/>
                </a:moveTo>
                <a:lnTo>
                  <a:pt x="1277664" y="997806"/>
                </a:lnTo>
                <a:cubicBezTo>
                  <a:pt x="1269704" y="1012236"/>
                  <a:pt x="1261744" y="1026667"/>
                  <a:pt x="1252457" y="1039786"/>
                </a:cubicBezTo>
                <a:cubicBezTo>
                  <a:pt x="1252457" y="1039786"/>
                  <a:pt x="1252457" y="1039786"/>
                  <a:pt x="103532" y="1039786"/>
                </a:cubicBezTo>
                <a:cubicBezTo>
                  <a:pt x="95572" y="1026667"/>
                  <a:pt x="87612" y="1012236"/>
                  <a:pt x="79652" y="997806"/>
                </a:cubicBezTo>
                <a:close/>
                <a:moveTo>
                  <a:pt x="47360" y="931071"/>
                </a:moveTo>
                <a:lnTo>
                  <a:pt x="1307803" y="931071"/>
                </a:lnTo>
                <a:cubicBezTo>
                  <a:pt x="1302496" y="944265"/>
                  <a:pt x="1295862" y="958779"/>
                  <a:pt x="1289228" y="971973"/>
                </a:cubicBezTo>
                <a:cubicBezTo>
                  <a:pt x="1289228" y="971973"/>
                  <a:pt x="1289228" y="971973"/>
                  <a:pt x="65935" y="971973"/>
                </a:cubicBezTo>
                <a:cubicBezTo>
                  <a:pt x="59301" y="958779"/>
                  <a:pt x="53994" y="944265"/>
                  <a:pt x="47360" y="931071"/>
                </a:cubicBezTo>
                <a:close/>
                <a:moveTo>
                  <a:pt x="24756" y="863259"/>
                </a:moveTo>
                <a:lnTo>
                  <a:pt x="1331484" y="863259"/>
                </a:lnTo>
                <a:cubicBezTo>
                  <a:pt x="1327504" y="878059"/>
                  <a:pt x="1322197" y="892859"/>
                  <a:pt x="1316891" y="906314"/>
                </a:cubicBezTo>
                <a:cubicBezTo>
                  <a:pt x="1316891" y="906314"/>
                  <a:pt x="1316891" y="906314"/>
                  <a:pt x="38023" y="906314"/>
                </a:cubicBezTo>
                <a:cubicBezTo>
                  <a:pt x="32716" y="892859"/>
                  <a:pt x="28737" y="878059"/>
                  <a:pt x="24756" y="863259"/>
                </a:cubicBezTo>
                <a:close/>
                <a:moveTo>
                  <a:pt x="8610" y="797599"/>
                </a:moveTo>
                <a:lnTo>
                  <a:pt x="1346553" y="797599"/>
                </a:lnTo>
                <a:cubicBezTo>
                  <a:pt x="1343898" y="810793"/>
                  <a:pt x="1341243" y="825307"/>
                  <a:pt x="1338588" y="838502"/>
                </a:cubicBezTo>
                <a:cubicBezTo>
                  <a:pt x="1338588" y="838502"/>
                  <a:pt x="1338588" y="838502"/>
                  <a:pt x="17901" y="838502"/>
                </a:cubicBezTo>
                <a:cubicBezTo>
                  <a:pt x="15247" y="825307"/>
                  <a:pt x="11265" y="810793"/>
                  <a:pt x="8610" y="797599"/>
                </a:cubicBezTo>
                <a:close/>
                <a:moveTo>
                  <a:pt x="1076" y="729788"/>
                </a:moveTo>
                <a:lnTo>
                  <a:pt x="1356240" y="729788"/>
                </a:lnTo>
                <a:cubicBezTo>
                  <a:pt x="1354913" y="744218"/>
                  <a:pt x="1353586" y="758648"/>
                  <a:pt x="1350931" y="771767"/>
                </a:cubicBezTo>
                <a:cubicBezTo>
                  <a:pt x="1350931" y="771767"/>
                  <a:pt x="1350931" y="771767"/>
                  <a:pt x="6385" y="771767"/>
                </a:cubicBezTo>
                <a:cubicBezTo>
                  <a:pt x="3731" y="758648"/>
                  <a:pt x="2404" y="744218"/>
                  <a:pt x="1076" y="729788"/>
                </a:cubicBezTo>
                <a:close/>
                <a:moveTo>
                  <a:pt x="0" y="663052"/>
                </a:moveTo>
                <a:cubicBezTo>
                  <a:pt x="0" y="663052"/>
                  <a:pt x="0" y="663052"/>
                  <a:pt x="1357317" y="663052"/>
                </a:cubicBezTo>
                <a:cubicBezTo>
                  <a:pt x="1357317" y="668434"/>
                  <a:pt x="1357317" y="672470"/>
                  <a:pt x="1357317" y="677852"/>
                </a:cubicBezTo>
                <a:cubicBezTo>
                  <a:pt x="1357317" y="687271"/>
                  <a:pt x="1357317" y="696689"/>
                  <a:pt x="1357317" y="706107"/>
                </a:cubicBezTo>
                <a:cubicBezTo>
                  <a:pt x="1357317" y="706107"/>
                  <a:pt x="1357317" y="706107"/>
                  <a:pt x="0" y="706107"/>
                </a:cubicBezTo>
                <a:cubicBezTo>
                  <a:pt x="0" y="696689"/>
                  <a:pt x="0" y="687271"/>
                  <a:pt x="0" y="677852"/>
                </a:cubicBezTo>
                <a:cubicBezTo>
                  <a:pt x="0" y="672470"/>
                  <a:pt x="0" y="668434"/>
                  <a:pt x="0" y="663052"/>
                </a:cubicBezTo>
                <a:close/>
                <a:moveTo>
                  <a:pt x="3731" y="595240"/>
                </a:moveTo>
                <a:lnTo>
                  <a:pt x="1352258" y="595240"/>
                </a:lnTo>
                <a:cubicBezTo>
                  <a:pt x="1354913" y="610040"/>
                  <a:pt x="1354913" y="623495"/>
                  <a:pt x="1356240" y="638295"/>
                </a:cubicBezTo>
                <a:cubicBezTo>
                  <a:pt x="1356240" y="638295"/>
                  <a:pt x="1356240" y="638295"/>
                  <a:pt x="1076" y="638295"/>
                </a:cubicBezTo>
                <a:cubicBezTo>
                  <a:pt x="1076" y="623495"/>
                  <a:pt x="2404" y="610040"/>
                  <a:pt x="3731" y="595240"/>
                </a:cubicBezTo>
                <a:close/>
                <a:moveTo>
                  <a:pt x="15494" y="529581"/>
                </a:moveTo>
                <a:lnTo>
                  <a:pt x="1340746" y="529581"/>
                </a:lnTo>
                <a:cubicBezTo>
                  <a:pt x="1343400" y="542699"/>
                  <a:pt x="1346053" y="557129"/>
                  <a:pt x="1348706" y="571560"/>
                </a:cubicBezTo>
                <a:cubicBezTo>
                  <a:pt x="1348706" y="571560"/>
                  <a:pt x="1348706" y="571560"/>
                  <a:pt x="7534" y="571560"/>
                </a:cubicBezTo>
                <a:cubicBezTo>
                  <a:pt x="10187" y="557129"/>
                  <a:pt x="12841" y="542699"/>
                  <a:pt x="15494" y="529581"/>
                </a:cubicBezTo>
                <a:close/>
                <a:moveTo>
                  <a:pt x="34544" y="461768"/>
                </a:moveTo>
                <a:lnTo>
                  <a:pt x="1322772" y="461768"/>
                </a:lnTo>
                <a:cubicBezTo>
                  <a:pt x="1326753" y="476198"/>
                  <a:pt x="1330733" y="489317"/>
                  <a:pt x="1334713" y="503747"/>
                </a:cubicBezTo>
                <a:cubicBezTo>
                  <a:pt x="1334713" y="503747"/>
                  <a:pt x="1334713" y="503747"/>
                  <a:pt x="22604" y="503747"/>
                </a:cubicBezTo>
                <a:cubicBezTo>
                  <a:pt x="25257" y="489317"/>
                  <a:pt x="30564" y="476198"/>
                  <a:pt x="34544" y="461768"/>
                </a:cubicBezTo>
                <a:close/>
                <a:moveTo>
                  <a:pt x="60308" y="395033"/>
                </a:moveTo>
                <a:lnTo>
                  <a:pt x="1294604" y="395033"/>
                </a:lnTo>
                <a:cubicBezTo>
                  <a:pt x="1301240" y="408487"/>
                  <a:pt x="1307876" y="423288"/>
                  <a:pt x="1313185" y="438088"/>
                </a:cubicBezTo>
                <a:cubicBezTo>
                  <a:pt x="1313185" y="438088"/>
                  <a:pt x="1313185" y="438088"/>
                  <a:pt x="43055" y="438088"/>
                </a:cubicBezTo>
                <a:cubicBezTo>
                  <a:pt x="48364" y="423288"/>
                  <a:pt x="53672" y="408487"/>
                  <a:pt x="60308" y="395033"/>
                </a:cubicBezTo>
                <a:close/>
                <a:moveTo>
                  <a:pt x="97072" y="327221"/>
                </a:moveTo>
                <a:lnTo>
                  <a:pt x="1260494" y="327221"/>
                </a:lnTo>
                <a:cubicBezTo>
                  <a:pt x="1268454" y="342021"/>
                  <a:pt x="1276413" y="355476"/>
                  <a:pt x="1283046" y="370276"/>
                </a:cubicBezTo>
                <a:cubicBezTo>
                  <a:pt x="1283046" y="370276"/>
                  <a:pt x="1283046" y="370276"/>
                  <a:pt x="73193" y="370276"/>
                </a:cubicBezTo>
                <a:cubicBezTo>
                  <a:pt x="81153" y="355476"/>
                  <a:pt x="89112" y="342021"/>
                  <a:pt x="97072" y="327221"/>
                </a:cubicBezTo>
                <a:close/>
                <a:moveTo>
                  <a:pt x="143523" y="261561"/>
                </a:moveTo>
                <a:lnTo>
                  <a:pt x="1213793" y="261561"/>
                </a:lnTo>
                <a:cubicBezTo>
                  <a:pt x="1224403" y="274680"/>
                  <a:pt x="1235013" y="289110"/>
                  <a:pt x="1244297" y="303540"/>
                </a:cubicBezTo>
                <a:cubicBezTo>
                  <a:pt x="1244297" y="303540"/>
                  <a:pt x="1244297" y="303540"/>
                  <a:pt x="113020" y="303540"/>
                </a:cubicBezTo>
                <a:cubicBezTo>
                  <a:pt x="122303" y="289110"/>
                  <a:pt x="132913" y="274680"/>
                  <a:pt x="143523" y="261561"/>
                </a:cubicBezTo>
                <a:close/>
                <a:moveTo>
                  <a:pt x="202347" y="194825"/>
                </a:moveTo>
                <a:cubicBezTo>
                  <a:pt x="202347" y="194825"/>
                  <a:pt x="202347" y="194825"/>
                  <a:pt x="1153893" y="194825"/>
                </a:cubicBezTo>
                <a:cubicBezTo>
                  <a:pt x="1167165" y="208019"/>
                  <a:pt x="1180436" y="221214"/>
                  <a:pt x="1193707" y="235728"/>
                </a:cubicBezTo>
                <a:cubicBezTo>
                  <a:pt x="1193707" y="235728"/>
                  <a:pt x="1193707" y="235728"/>
                  <a:pt x="162533" y="235728"/>
                </a:cubicBezTo>
                <a:cubicBezTo>
                  <a:pt x="174478" y="221214"/>
                  <a:pt x="187749" y="208019"/>
                  <a:pt x="202347" y="194825"/>
                </a:cubicBezTo>
                <a:close/>
                <a:moveTo>
                  <a:pt x="281045" y="127014"/>
                </a:moveTo>
                <a:lnTo>
                  <a:pt x="1074944" y="127014"/>
                </a:lnTo>
                <a:cubicBezTo>
                  <a:pt x="1093530" y="140469"/>
                  <a:pt x="1110789" y="155269"/>
                  <a:pt x="1128047" y="170069"/>
                </a:cubicBezTo>
                <a:cubicBezTo>
                  <a:pt x="1128047" y="170069"/>
                  <a:pt x="1128047" y="170069"/>
                  <a:pt x="229269" y="170069"/>
                </a:cubicBezTo>
                <a:cubicBezTo>
                  <a:pt x="245200" y="155269"/>
                  <a:pt x="263786" y="140469"/>
                  <a:pt x="281045" y="127014"/>
                </a:cubicBezTo>
                <a:close/>
                <a:moveTo>
                  <a:pt x="396878" y="61354"/>
                </a:moveTo>
                <a:lnTo>
                  <a:pt x="959362" y="61354"/>
                </a:lnTo>
                <a:cubicBezTo>
                  <a:pt x="987220" y="73229"/>
                  <a:pt x="1012426" y="86423"/>
                  <a:pt x="1037631" y="102257"/>
                </a:cubicBezTo>
                <a:cubicBezTo>
                  <a:pt x="1037631" y="102257"/>
                  <a:pt x="1037631" y="102257"/>
                  <a:pt x="318608" y="102257"/>
                </a:cubicBezTo>
                <a:cubicBezTo>
                  <a:pt x="343814" y="86423"/>
                  <a:pt x="370346" y="73229"/>
                  <a:pt x="396878" y="61354"/>
                </a:cubicBezTo>
                <a:close/>
                <a:moveTo>
                  <a:pt x="677581" y="0"/>
                </a:moveTo>
                <a:cubicBezTo>
                  <a:pt x="754578" y="0"/>
                  <a:pt x="827593" y="11841"/>
                  <a:pt x="896625" y="35521"/>
                </a:cubicBezTo>
                <a:cubicBezTo>
                  <a:pt x="896625" y="35521"/>
                  <a:pt x="896625" y="35521"/>
                  <a:pt x="458538" y="35521"/>
                </a:cubicBezTo>
                <a:cubicBezTo>
                  <a:pt x="527570" y="11841"/>
                  <a:pt x="601912" y="0"/>
                  <a:pt x="677581" y="0"/>
                </a:cubicBezTo>
                <a:close/>
              </a:path>
            </a:pathLst>
          </a:custGeom>
          <a:gradFill flip="none" rotWithShape="1">
            <a:gsLst>
              <a:gs pos="0">
                <a:srgbClr val="6DAECC">
                  <a:alpha val="34000"/>
                </a:srgbClr>
              </a:gs>
              <a:gs pos="76000">
                <a:srgbClr val="6DAECC">
                  <a:alpha val="3000"/>
                </a:srgbClr>
              </a:gs>
              <a:gs pos="100000">
                <a:srgbClr val="6DAECC">
                  <a:alpha val="3000"/>
                </a:srgbClr>
              </a:gs>
            </a:gsLst>
            <a:lin ang="0" scaled="1"/>
          </a:gra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40CA8F-124E-D5F8-A9DB-5663F74427A0}"/>
              </a:ext>
            </a:extLst>
          </p:cNvPr>
          <p:cNvSpPr/>
          <p:nvPr/>
        </p:nvSpPr>
        <p:spPr>
          <a:xfrm rot="1800000">
            <a:off x="367916" y="1062304"/>
            <a:ext cx="1357317" cy="13573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9C9974-8E3A-4510-4CB5-1C212ABB9940}"/>
              </a:ext>
            </a:extLst>
          </p:cNvPr>
          <p:cNvSpPr/>
          <p:nvPr/>
        </p:nvSpPr>
        <p:spPr>
          <a:xfrm>
            <a:off x="6293856" y="-1"/>
            <a:ext cx="6598285" cy="6853555"/>
          </a:xfrm>
          <a:custGeom>
            <a:avLst/>
            <a:gdLst/>
            <a:ahLst/>
            <a:cxnLst/>
            <a:rect l="l" t="t" r="r" b="b"/>
            <a:pathLst>
              <a:path w="6598285" h="6853555">
                <a:moveTo>
                  <a:pt x="1058425" y="0"/>
                </a:moveTo>
                <a:lnTo>
                  <a:pt x="6598285" y="0"/>
                </a:lnTo>
                <a:lnTo>
                  <a:pt x="6598285" y="6853555"/>
                </a:lnTo>
                <a:lnTo>
                  <a:pt x="1136835" y="6853555"/>
                </a:lnTo>
                <a:lnTo>
                  <a:pt x="1008283" y="6678901"/>
                </a:lnTo>
                <a:cubicBezTo>
                  <a:pt x="378388" y="5780658"/>
                  <a:pt x="0" y="4629089"/>
                  <a:pt x="0" y="3373514"/>
                </a:cubicBezTo>
                <a:cubicBezTo>
                  <a:pt x="0" y="2117938"/>
                  <a:pt x="378387" y="966368"/>
                  <a:pt x="1008281" y="68125"/>
                </a:cubicBezTo>
                <a:close/>
              </a:path>
            </a:pathLst>
          </a:custGeom>
          <a:solidFill>
            <a:srgbClr val="6DAECC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BE8662-559C-90AB-35D3-597E216FEF29}"/>
              </a:ext>
            </a:extLst>
          </p:cNvPr>
          <p:cNvSpPr/>
          <p:nvPr/>
        </p:nvSpPr>
        <p:spPr>
          <a:xfrm>
            <a:off x="5593715" y="0"/>
            <a:ext cx="6598285" cy="68535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EDC078-7DC0-D1DD-5FA8-4155CA869E51}"/>
              </a:ext>
            </a:extLst>
          </p:cNvPr>
          <p:cNvSpPr/>
          <p:nvPr/>
        </p:nvSpPr>
        <p:spPr>
          <a:xfrm>
            <a:off x="732155" y="1543050"/>
            <a:ext cx="10728325" cy="4410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6D4E7E-CFC2-3A80-E3FC-892D997E83BB}"/>
              </a:ext>
            </a:extLst>
          </p:cNvPr>
          <p:cNvSpPr/>
          <p:nvPr/>
        </p:nvSpPr>
        <p:spPr>
          <a:xfrm>
            <a:off x="1932519" y="5207000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F0CA8E-64B1-4760-DEA9-29EF22D71F8D}"/>
              </a:ext>
            </a:extLst>
          </p:cNvPr>
          <p:cNvSpPr/>
          <p:nvPr/>
        </p:nvSpPr>
        <p:spPr>
          <a:xfrm>
            <a:off x="1123897" y="5029214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357243-64A0-7C3E-DB70-941278308415}"/>
              </a:ext>
            </a:extLst>
          </p:cNvPr>
          <p:cNvSpPr/>
          <p:nvPr/>
        </p:nvSpPr>
        <p:spPr>
          <a:xfrm>
            <a:off x="1198996" y="5103784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BFBE8E-0746-597D-9BBB-46B795D55C5A}"/>
              </a:ext>
            </a:extLst>
          </p:cNvPr>
          <p:cNvSpPr/>
          <p:nvPr/>
        </p:nvSpPr>
        <p:spPr>
          <a:xfrm>
            <a:off x="185293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6EE1FB6-5B4E-0B86-C49D-B91AD8E6AEE8}"/>
              </a:ext>
            </a:extLst>
          </p:cNvPr>
          <p:cNvSpPr/>
          <p:nvPr/>
        </p:nvSpPr>
        <p:spPr>
          <a:xfrm>
            <a:off x="1515110" y="2399665"/>
            <a:ext cx="2301875" cy="275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4E45472-B90D-8681-682A-CAFA874379DA}"/>
              </a:ext>
            </a:extLst>
          </p:cNvPr>
          <p:cNvSpPr/>
          <p:nvPr/>
        </p:nvSpPr>
        <p:spPr>
          <a:xfrm>
            <a:off x="5480264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1CCC6AA-01A4-0029-9E49-1F00C4933E94}"/>
              </a:ext>
            </a:extLst>
          </p:cNvPr>
          <p:cNvSpPr/>
          <p:nvPr/>
        </p:nvSpPr>
        <p:spPr>
          <a:xfrm>
            <a:off x="5875448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B88E2FA-3225-BF21-BEE9-A6090D6B83D2}"/>
              </a:ext>
            </a:extLst>
          </p:cNvPr>
          <p:cNvSpPr/>
          <p:nvPr/>
        </p:nvSpPr>
        <p:spPr>
          <a:xfrm>
            <a:off x="627063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BAE119E-04C5-F23E-FF76-EFE5FAEA9DBC}"/>
              </a:ext>
            </a:extLst>
          </p:cNvPr>
          <p:cNvSpPr/>
          <p:nvPr/>
        </p:nvSpPr>
        <p:spPr>
          <a:xfrm>
            <a:off x="6468221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64AC93F-A5B1-B681-D7D8-1A610DEF3A37}"/>
              </a:ext>
            </a:extLst>
          </p:cNvPr>
          <p:cNvSpPr/>
          <p:nvPr/>
        </p:nvSpPr>
        <p:spPr>
          <a:xfrm>
            <a:off x="4747260" y="2372995"/>
            <a:ext cx="2301875" cy="275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020F80C5-629E-2135-60A3-F85570C3253B}"/>
              </a:ext>
            </a:extLst>
          </p:cNvPr>
          <p:cNvSpPr/>
          <p:nvPr/>
        </p:nvSpPr>
        <p:spPr>
          <a:xfrm>
            <a:off x="859991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62D7D67-167A-D4D3-ED8F-A89E70D90544}"/>
              </a:ext>
            </a:extLst>
          </p:cNvPr>
          <p:cNvSpPr/>
          <p:nvPr/>
        </p:nvSpPr>
        <p:spPr>
          <a:xfrm>
            <a:off x="9192688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490CA9CA-0A1B-5DB8-8293-D5732353659F}"/>
              </a:ext>
            </a:extLst>
          </p:cNvPr>
          <p:cNvSpPr/>
          <p:nvPr/>
        </p:nvSpPr>
        <p:spPr>
          <a:xfrm>
            <a:off x="939028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AF5032C2-1BAC-0613-1BEE-82B91B0BB313}"/>
              </a:ext>
            </a:extLst>
          </p:cNvPr>
          <p:cNvSpPr/>
          <p:nvPr/>
        </p:nvSpPr>
        <p:spPr>
          <a:xfrm>
            <a:off x="9785461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044F170E-2870-D262-E78A-A99EB02C4CDD}"/>
              </a:ext>
            </a:extLst>
          </p:cNvPr>
          <p:cNvSpPr/>
          <p:nvPr/>
        </p:nvSpPr>
        <p:spPr>
          <a:xfrm>
            <a:off x="8061960" y="184594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94293493-5F03-4844-6539-6C480FC3E447}"/>
              </a:ext>
            </a:extLst>
          </p:cNvPr>
          <p:cNvSpPr/>
          <p:nvPr/>
        </p:nvSpPr>
        <p:spPr>
          <a:xfrm>
            <a:off x="8064500" y="2333625"/>
            <a:ext cx="2301875" cy="275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7B3880F-3FBA-B904-95F9-FE958D6D37A9}"/>
              </a:ext>
            </a:extLst>
          </p:cNvPr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6DAECC"/>
          </a:solidFill>
          <a:ln/>
        </p:spPr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E53EB61-7692-A4F0-DF5C-8F737247B4CC}"/>
              </a:ext>
            </a:extLst>
          </p:cNvPr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A811EF0-7D06-A415-1DBC-E515CB2548D0}"/>
              </a:ext>
            </a:extLst>
          </p:cNvPr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99826EB-F83F-DC87-A5DA-34E71F8D79DA}"/>
              </a:ext>
            </a:extLst>
          </p:cNvPr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06A4A289-4BB5-751B-C77E-33284232FFBC}"/>
              </a:ext>
            </a:extLst>
          </p:cNvPr>
          <p:cNvSpPr/>
          <p:nvPr/>
        </p:nvSpPr>
        <p:spPr>
          <a:xfrm>
            <a:off x="4261432" y="492824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E21B472-E6D2-D507-0AC6-942B9BE8DE0C}"/>
              </a:ext>
            </a:extLst>
          </p:cNvPr>
          <p:cNvSpPr/>
          <p:nvPr/>
        </p:nvSpPr>
        <p:spPr>
          <a:xfrm>
            <a:off x="4336531" y="500281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3DFDAA40-1348-1784-B89C-B8A0C5EC7BA9}"/>
              </a:ext>
            </a:extLst>
          </p:cNvPr>
          <p:cNvSpPr/>
          <p:nvPr/>
        </p:nvSpPr>
        <p:spPr>
          <a:xfrm>
            <a:off x="7498080" y="483806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57E49CF2-CD0E-8F7B-1A46-32162E727954}"/>
              </a:ext>
            </a:extLst>
          </p:cNvPr>
          <p:cNvSpPr/>
          <p:nvPr/>
        </p:nvSpPr>
        <p:spPr>
          <a:xfrm>
            <a:off x="7578672" y="491808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73A01CF0-A575-7502-B90E-7CB9A4D328EA}"/>
              </a:ext>
            </a:extLst>
          </p:cNvPr>
          <p:cNvSpPr/>
          <p:nvPr/>
        </p:nvSpPr>
        <p:spPr>
          <a:xfrm>
            <a:off x="7653771" y="499265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889DECC5-E571-F23A-3138-A639E55D1319}"/>
              </a:ext>
            </a:extLst>
          </p:cNvPr>
          <p:cNvSpPr/>
          <p:nvPr/>
        </p:nvSpPr>
        <p:spPr>
          <a:xfrm>
            <a:off x="1196975" y="191198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0" name="Text 85">
            <a:extLst>
              <a:ext uri="{FF2B5EF4-FFF2-40B4-BE49-F238E27FC236}">
                <a16:creationId xmlns:a16="http://schemas.microsoft.com/office/drawing/2014/main" id="{9EFCE34C-D2C0-3BD7-F5E5-A37C15D870C2}"/>
              </a:ext>
            </a:extLst>
          </p:cNvPr>
          <p:cNvSpPr/>
          <p:nvPr/>
        </p:nvSpPr>
        <p:spPr>
          <a:xfrm>
            <a:off x="4398645" y="188531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3" name="Text 88">
            <a:extLst>
              <a:ext uri="{FF2B5EF4-FFF2-40B4-BE49-F238E27FC236}">
                <a16:creationId xmlns:a16="http://schemas.microsoft.com/office/drawing/2014/main" id="{9797C57A-E1BE-D205-5C26-961554ACB2F9}"/>
              </a:ext>
            </a:extLst>
          </p:cNvPr>
          <p:cNvSpPr/>
          <p:nvPr/>
        </p:nvSpPr>
        <p:spPr>
          <a:xfrm>
            <a:off x="63881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系统架构图</a:t>
            </a:r>
            <a:endParaRPr lang="en-US" sz="1600" dirty="0"/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2F97D1BB-94E6-AFDB-DBB1-E30B32878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3" y="913825"/>
            <a:ext cx="9763106" cy="57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7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演示方案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715" y="5120640"/>
            <a:ext cx="12206605" cy="1798320"/>
          </a:xfrm>
          <a:prstGeom prst="roundRect">
            <a:avLst>
              <a:gd name="adj" fmla="val 0"/>
            </a:avLst>
          </a:prstGeom>
          <a:solidFill>
            <a:srgbClr val="6DAECC"/>
          </a:solidFill>
          <a:ln/>
        </p:spPr>
      </p:sp>
      <p:sp>
        <p:nvSpPr>
          <p:cNvPr id="3" name="Text 1"/>
          <p:cNvSpPr/>
          <p:nvPr/>
        </p:nvSpPr>
        <p:spPr>
          <a:xfrm>
            <a:off x="-5715" y="5120640"/>
            <a:ext cx="12206605" cy="1798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95350" y="1499862"/>
            <a:ext cx="3131820" cy="4437908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1499862"/>
            <a:ext cx="3131820" cy="44379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49115" y="1149350"/>
            <a:ext cx="3605530" cy="513842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9115" y="1149350"/>
            <a:ext cx="3605530" cy="5138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76590" y="1499862"/>
            <a:ext cx="3131820" cy="4437908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6590" y="1499862"/>
            <a:ext cx="3131820" cy="44379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0833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现场双服务联调与风险分级演示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47750" y="3827118"/>
            <a:ext cx="2827020" cy="69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 err="1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我们将同时启动两个Flask服务，确保系统正常运行，为演示做好准备</a:t>
            </a: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47750" y="3319126"/>
            <a:ext cx="2908935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服务启动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490724" y="4199312"/>
            <a:ext cx="3322312" cy="216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通过浏览器打开心脏病表单页，输入一组含有风险特征的样例数据，实时展示预测结果、概率以及风险分级，让观众直观感受系统的高效性。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490724" y="3568121"/>
            <a:ext cx="3322312" cy="555113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表单提交与预测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8990" y="3827118"/>
            <a:ext cx="2827020" cy="189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访问model_info接口，展示模型文件名与时间戳，验证模型的热加载功能。同时，刷新MySQL表，查看新增的预测记录，证明数据的完整闭环。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28990" y="3319126"/>
            <a:ext cx="2909570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模型信息与数据入库</a:t>
            </a: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772A668-040D-C7C5-18D4-5AA0F1DF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76" y="1629636"/>
            <a:ext cx="2580236" cy="163717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6C1F0AB-1180-9FA1-76F3-0E4FBE25B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225" y="1229640"/>
            <a:ext cx="2902410" cy="226240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21F6441-DC74-29CC-A924-3421041A9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629636"/>
            <a:ext cx="2761432" cy="16033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14452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9:00-d0shp7475iks832je450.png"/>
          <p:cNvPicPr>
            <a:picLocks noChangeAspect="1"/>
          </p:cNvPicPr>
          <p:nvPr/>
        </p:nvPicPr>
        <p:blipFill>
          <a:blip r:embed="rId3"/>
          <a:srcRect t="122" b="122"/>
          <a:stretch/>
        </p:blipFill>
        <p:spPr>
          <a:xfrm>
            <a:off x="-17462" y="1633220"/>
            <a:ext cx="12226925" cy="18122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656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19656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388111" y="2665171"/>
            <a:ext cx="1075939" cy="1075939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6" name="Text 3"/>
          <p:cNvSpPr/>
          <p:nvPr/>
        </p:nvSpPr>
        <p:spPr>
          <a:xfrm>
            <a:off x="238811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6648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648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58031" y="2665171"/>
            <a:ext cx="1075939" cy="1075939"/>
          </a:xfrm>
          <a:prstGeom prst="ellipse">
            <a:avLst/>
          </a:prstGeom>
          <a:solidFill>
            <a:srgbClr val="007F80"/>
          </a:solidFill>
          <a:ln/>
        </p:spPr>
      </p:sp>
      <p:sp>
        <p:nvSpPr>
          <p:cNvPr id="10" name="Text 7"/>
          <p:cNvSpPr/>
          <p:nvPr/>
        </p:nvSpPr>
        <p:spPr>
          <a:xfrm>
            <a:off x="555803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640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640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27951" y="2665171"/>
            <a:ext cx="1075939" cy="1075939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14" name="Text 11"/>
          <p:cNvSpPr/>
          <p:nvPr/>
        </p:nvSpPr>
        <p:spPr>
          <a:xfrm>
            <a:off x="872795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604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零漏诊解决方案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6045" y="4356735"/>
            <a:ext cx="2872740" cy="1097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我们通过SMOTENC过采样和阈值策略，成功解决了类别不平衡问题，实现了健康人群零漏诊的目标，为医疗早筛提供了坚实的保障</a:t>
            </a: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0852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工程化程度高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08525" y="43567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项目具备高度的工程化特性，自动加载最新模型、接口清晰、前后端即用，极大地降低了项目的落地门槛，提高了系统的可操作性。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0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通用扩展设计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29600" y="43567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我们的框架具有很强的通用性，能够适用于多种医疗数据集，并且可以无缝扩展SHAP解释、模型融合与在线监控等功能，具有广阔的发展前景。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6DAECC"/>
          </a:solidFill>
          <a:ln/>
        </p:spPr>
      </p:sp>
      <p:sp>
        <p:nvSpPr>
          <p:cNvPr id="28" name="Text 25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6DAE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881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零漏诊工程化与通用扩展设计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1E741E-B8E4-4C3D-51CD-16DAE7900465}"/>
              </a:ext>
            </a:extLst>
          </p:cNvPr>
          <p:cNvSpPr/>
          <p:nvPr/>
        </p:nvSpPr>
        <p:spPr>
          <a:xfrm>
            <a:off x="490499" y="264333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4F3645-337D-61FA-A969-DD4061F423CC}"/>
              </a:ext>
            </a:extLst>
          </p:cNvPr>
          <p:cNvSpPr/>
          <p:nvPr/>
        </p:nvSpPr>
        <p:spPr>
          <a:xfrm>
            <a:off x="490499" y="264333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52E4C0-CD8C-0A66-DFAD-C687F266839C}"/>
              </a:ext>
            </a:extLst>
          </p:cNvPr>
          <p:cNvSpPr/>
          <p:nvPr/>
        </p:nvSpPr>
        <p:spPr>
          <a:xfrm>
            <a:off x="682049" y="455883"/>
            <a:ext cx="1075939" cy="1075939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0C98D6-794A-90DC-A986-D326F314F883}"/>
              </a:ext>
            </a:extLst>
          </p:cNvPr>
          <p:cNvSpPr/>
          <p:nvPr/>
        </p:nvSpPr>
        <p:spPr>
          <a:xfrm>
            <a:off x="682049" y="455883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E3E3BA29-BF28-FBF3-FD2E-3E294A5444DF}"/>
              </a:ext>
            </a:extLst>
          </p:cNvPr>
          <p:cNvSpPr/>
          <p:nvPr/>
        </p:nvSpPr>
        <p:spPr>
          <a:xfrm>
            <a:off x="846806" y="698039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75A02325-70FF-361F-CD79-8E98CC51321E}"/>
              </a:ext>
            </a:extLst>
          </p:cNvPr>
          <p:cNvSpPr/>
          <p:nvPr/>
        </p:nvSpPr>
        <p:spPr>
          <a:xfrm>
            <a:off x="846806" y="698039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8CAB2E-15D0-2C5F-6C0F-576D0885D101}"/>
              </a:ext>
            </a:extLst>
          </p:cNvPr>
          <p:cNvSpPr txBox="1"/>
          <p:nvPr/>
        </p:nvSpPr>
        <p:spPr>
          <a:xfrm>
            <a:off x="2114294" y="805760"/>
            <a:ext cx="4158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SMOTENC过采样和阈值策略</a:t>
            </a:r>
            <a:endParaRPr lang="zh-CN" altLang="en-US" sz="24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49B13D-E8AB-DCD8-2281-1FE8884E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74" y="1491997"/>
            <a:ext cx="6273696" cy="484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0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3F60C61-F5B2-8B19-EF5B-CE04DF3A0C32}"/>
              </a:ext>
            </a:extLst>
          </p:cNvPr>
          <p:cNvSpPr/>
          <p:nvPr/>
        </p:nvSpPr>
        <p:spPr>
          <a:xfrm>
            <a:off x="682049" y="455883"/>
            <a:ext cx="1075939" cy="1075939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1262DE2-0AD4-EDAE-1C95-5ED45C32B9FF}"/>
              </a:ext>
            </a:extLst>
          </p:cNvPr>
          <p:cNvSpPr/>
          <p:nvPr/>
        </p:nvSpPr>
        <p:spPr>
          <a:xfrm>
            <a:off x="682049" y="455883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0395D744-E5DC-A1B7-D9B1-5B10075FC21D}"/>
              </a:ext>
            </a:extLst>
          </p:cNvPr>
          <p:cNvSpPr/>
          <p:nvPr/>
        </p:nvSpPr>
        <p:spPr>
          <a:xfrm>
            <a:off x="846806" y="698039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95C3A59-F490-80B3-A7ED-A35C205DACB1}"/>
              </a:ext>
            </a:extLst>
          </p:cNvPr>
          <p:cNvSpPr/>
          <p:nvPr/>
        </p:nvSpPr>
        <p:spPr>
          <a:xfrm>
            <a:off x="846806" y="698039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24AA0D-C725-FBF8-7BEE-54357EDB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988" y="1206210"/>
            <a:ext cx="6553537" cy="56517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A9B84C9-56DB-D536-5DFD-9AF2B6776A86}"/>
              </a:ext>
            </a:extLst>
          </p:cNvPr>
          <p:cNvSpPr txBox="1"/>
          <p:nvPr/>
        </p:nvSpPr>
        <p:spPr>
          <a:xfrm>
            <a:off x="1922745" y="730702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SMOTENC</a:t>
            </a:r>
            <a:r>
              <a:rPr lang="zh-CN" altLang="en-US" sz="2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的使用演示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9374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14452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风险与不足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295C74">
              <a:alpha val="23137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5-30-10:48:57-d0shp6c75iks832je440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3074352" y="1831658"/>
            <a:ext cx="6704965" cy="372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3178A1"/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8" name="Text 5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10" name="Text 7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255A79"/>
          </a:solidFill>
          <a:ln/>
        </p:spPr>
      </p:sp>
      <p:sp>
        <p:nvSpPr>
          <p:cNvPr id="12" name="Text 9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46705" y="1313815"/>
            <a:ext cx="5918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7170" y="3285490"/>
            <a:ext cx="6426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67380" y="5291455"/>
            <a:ext cx="6673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10685" y="124650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数据代表性不足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210685" y="1703070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目前使用的公开数据集在代表性和泛化能力上存在一定的局限性，可能无法完全覆盖所有医疗场景，需要进一步收集多中心数据以提高模型的泛化能力。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27170" y="5546725"/>
            <a:ext cx="6839585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在数据存储和传输过程中，数据库凭据和日志存在隐私泄漏的风险。我们将采取加密和脱敏等措施，确保数据的安全性和隐私性。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7170" y="508952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数据安全与隐私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59020" y="3302000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依赖环境与版本一致性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59020" y="3758565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项目的运行依赖于特定的环境和模型版本，存在一定的环境适配风险。未来需要通过容器化等方式锁定环境，确保系统的稳定运行。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810" y="315595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数据泛化与安全合规风险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14452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规划与展望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9:02-d0shp7k75iks832je45g.png"/>
          <p:cNvPicPr>
            <a:picLocks noChangeAspect="1"/>
          </p:cNvPicPr>
          <p:nvPr/>
        </p:nvPicPr>
        <p:blipFill>
          <a:blip r:embed="rId3"/>
          <a:srcRect l="20" r="20"/>
          <a:stretch/>
        </p:blipFill>
        <p:spPr>
          <a:xfrm>
            <a:off x="630555" y="1304290"/>
            <a:ext cx="3889375" cy="4761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295C74"/>
          </a:solidFill>
          <a:ln/>
        </p:spPr>
      </p:sp>
      <p:sp>
        <p:nvSpPr>
          <p:cNvPr id="4" name="Text 1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71720" y="3219450"/>
            <a:ext cx="3194685" cy="28454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95C7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71720" y="3219450"/>
            <a:ext cx="3194685" cy="28454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93100" y="3244850"/>
            <a:ext cx="3157220" cy="283337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95C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93100" y="3244850"/>
            <a:ext cx="3157220" cy="2833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6200000">
            <a:off x="7375085" y="-681795"/>
            <a:ext cx="72000" cy="5166995"/>
          </a:xfrm>
          <a:prstGeom prst="parallelogram">
            <a:avLst/>
          </a:prstGeom>
          <a:gradFill flip="none" rotWithShape="1">
            <a:gsLst>
              <a:gs pos="0">
                <a:srgbClr val="A8CFE0">
                  <a:alpha val="0"/>
                </a:srgbClr>
              </a:gs>
              <a:gs pos="28000">
                <a:srgbClr val="A8CFE0">
                  <a:alpha val="0"/>
                </a:srgbClr>
              </a:gs>
              <a:gs pos="100000">
                <a:srgbClr val="3178A1"/>
              </a:gs>
            </a:gsLst>
            <a:lin ang="16200000" scaled="1"/>
          </a:gradFill>
          <a:ln/>
        </p:spPr>
      </p:sp>
      <p:sp>
        <p:nvSpPr>
          <p:cNvPr id="10" name="Text 7"/>
          <p:cNvSpPr/>
          <p:nvPr/>
        </p:nvSpPr>
        <p:spPr>
          <a:xfrm rot="16200000">
            <a:off x="7375085" y="-681795"/>
            <a:ext cx="72000" cy="5166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2505" y="1382395"/>
            <a:ext cx="455104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解释性可视化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2505" y="1976755"/>
            <a:ext cx="6647815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未来我们将引入SHAP解释性可视化和大屏展示，帮助医生更好地理解模型的决策过程，提高模型的可解释性。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32000" y="179324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48250" y="352615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CI/CD部署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13750" y="352615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隐私合规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48250" y="393509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我们将全面采用容器化技术，并接入CI/CD流程，实现一键灰度发布，提高项目的部署效率和稳定性。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13750" y="393509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我们将完成隐私审计，并通过三级等保认证，确保项目符合医疗行业的隐私合规要求，为项目的广泛应用奠定基础。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881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解释性可视化与CI/CD部署规划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8:20-d0shot475iks832je3p0.png"/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0" y="0"/>
            <a:ext cx="12192000" cy="459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235" y="50076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835" y="4946015"/>
            <a:ext cx="4779645" cy="14452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总结与Q&amp;A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471420" y="50463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471420" y="50463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85200" y="5926455"/>
            <a:ext cx="327660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800" dirty="0">
                <a:solidFill>
                  <a:srgbClr val="6DAECC">
                    <a:alpha val="2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FIRST PART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solidFill>
            <a:srgbClr val="6DAEC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175" y="2925445"/>
            <a:ext cx="6500495" cy="1539875"/>
          </a:xfrm>
          <a:prstGeom prst="roundRect">
            <a:avLst>
              <a:gd name="adj" fmla="val 11000"/>
            </a:avLst>
          </a:prstGeom>
          <a:solidFill>
            <a:srgbClr val="079F92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56175" y="2925445"/>
            <a:ext cx="6500495" cy="15398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56175" y="1461770"/>
            <a:ext cx="6500495" cy="1339215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56175" y="1461770"/>
            <a:ext cx="6500495" cy="1339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5965" y="1255395"/>
            <a:ext cx="10720070" cy="1545590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E1EFF5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5965" y="1255395"/>
            <a:ext cx="10720070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5965" y="2931160"/>
            <a:ext cx="10720705" cy="1545590"/>
          </a:xfrm>
          <a:prstGeom prst="roundRect">
            <a:avLst>
              <a:gd name="adj" fmla="val 11000"/>
            </a:avLst>
          </a:prstGeom>
          <a:solidFill>
            <a:srgbClr val="6DAECC"/>
          </a:solidFill>
          <a:ln w="19050">
            <a:solidFill>
              <a:srgbClr val="E1EFF5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5965" y="2931160"/>
            <a:ext cx="10720705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600" y="4594860"/>
            <a:ext cx="10720070" cy="1590675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19050">
            <a:solidFill>
              <a:srgbClr val="E1EFF5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3178A1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600" y="4594860"/>
            <a:ext cx="10720070" cy="15906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005" y="361759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我们采用了CatBoost+SMOTENC技术路线，并通过严谨的验证流程，确保了模型的高性能和稳定性。最终，我们交付了一个双API可运行的系统，实现了医疗早筛的价值。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005" y="149669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目标复盘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9005" y="1983740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我们的项目以零漏诊为目标，通过采用先进的技术路线，成功实现了AUC0.998和Recall1.00的优异性能，达到了预期目标。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005" y="311848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方法与结果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005" y="4831080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价值与展望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05" y="538670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本项目不仅在技术上取得了突破，还在医疗早筛领域具有重要的应用价值。未来，我们将继续优化系统，拓展功能，为医疗行业的发展贡献力量。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810" y="46990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95C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目标方法结果价值复盘与答疑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9:21-d0shpcc75iks832je490.png"/>
          <p:cNvPicPr>
            <a:picLocks noChangeAspect="1"/>
          </p:cNvPicPr>
          <p:nvPr/>
        </p:nvPicPr>
        <p:blipFill>
          <a:blip r:embed="rId3"/>
          <a:srcRect l="3" r="3"/>
          <a:stretch/>
        </p:blipFill>
        <p:spPr>
          <a:xfrm>
            <a:off x="635" y="-5080"/>
            <a:ext cx="12191365" cy="68656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615" y="4553585"/>
            <a:ext cx="191897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95415" y="4553585"/>
            <a:ext cx="191897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时间:2025.01.01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15260" y="3366770"/>
            <a:ext cx="6761480" cy="1414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7898" y="2035810"/>
            <a:ext cx="7736205" cy="1414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41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41"/>
  <p:tag name="KSO_WM_SLIDE_TYPE" val="text"/>
  <p:tag name="KSO_WM_SLIDE_SUBTYPE" val="diag"/>
  <p:tag name="KSO_WM_SLIDE_SIZE" val="850.4*342.55"/>
  <p:tag name="KSO_WM_SLIDE_POSITION" val="54.8*140.1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0941_3*m_i*1_1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0.89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0941_3*m_i*1_2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0941_3*m_h_i*1_1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0941_3*m_h_i*1_1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5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941_3*m_h_f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"/>
  <p:tag name="KSO_WM_UNIT_TEXT_FILL_FORE_SCHEMECOLOR_INDEX" val="1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41_3*m_h_a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0941_3*m_h_i*1_1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0941_3*m_h_i*1_2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6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0941_3*m_h_i*1_2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0941_3*m_h_f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0941_3*m_h_i*1_2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6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41_3*m_h_a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0941_3*m_h_i*1_3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7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0941_3*m_h_f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0941_3*m_h_i*1_3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7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41_3*m_h_a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0941_3*m_h_i*1_3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0941_3*m_h_i*1_4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8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0941_3*m_h_i*1_4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0941_3*m_h_f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0941_3*m_h_i*1_4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8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41_3*m_h_a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44.38511811023625,&quot;left&quot;:54.80000000000001,&quot;top&quot;:136.857165354330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41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41"/>
  <p:tag name="KSO_WM_SLIDE_TYPE" val="text"/>
  <p:tag name="KSO_WM_SLIDE_SUBTYPE" val="diag"/>
  <p:tag name="KSO_WM_SLIDE_SIZE" val="850.4*342.55"/>
  <p:tag name="KSO_WM_SLIDE_POSITION" val="54.8*140.1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0941_3*m_i*1_1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0.89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0941_3*m_i*1_2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0941_3*m_h_i*1_1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0941_3*m_h_i*1_1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5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941_3*m_h_f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"/>
  <p:tag name="KSO_WM_UNIT_TEXT_FILL_FORE_SCHEMECOLOR_INDEX" val="1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41_3*m_h_a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0941_3*m_h_i*1_1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0941_3*m_h_i*1_2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6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0941_3*m_h_i*1_2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0941_3*m_h_f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0941_3*m_h_i*1_2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6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41_3*m_h_a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0941_3*m_h_i*1_3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7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0941_3*m_h_f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0941_3*m_h_i*1_3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7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41_3*m_h_a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0941_3*m_h_i*1_3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0941_3*m_h_i*1_4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8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0941_3*m_h_i*1_4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0941_3*m_h_f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"/>
  <p:tag name="KSO_WM_UNIT_TEXT_FILL_FORE_SCHEMECOLOR_INDEX" val="1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0941_3*m_h_i*1_4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SHADOW_SCHEMECOLOR_INDEX" val="8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41_3*m_h_a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9.5851226103454,&quot;left&quot;:54.80000000000001,&quot;top&quot;:141.6571608542215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6DAECC"/>
      </a:accent1>
      <a:accent2>
        <a:srgbClr val="00FFFF"/>
      </a:accent2>
      <a:accent3>
        <a:srgbClr val="3178A1"/>
      </a:accent3>
      <a:accent4>
        <a:srgbClr val="1C4275"/>
      </a:accent4>
      <a:accent5>
        <a:srgbClr val="E8E8E6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6DAECC"/>
      </a:accent1>
      <a:accent2>
        <a:srgbClr val="00FFFF"/>
      </a:accent2>
      <a:accent3>
        <a:srgbClr val="3178A1"/>
      </a:accent3>
      <a:accent4>
        <a:srgbClr val="1C4275"/>
      </a:accent4>
      <a:accent5>
        <a:srgbClr val="E8E8E6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1271</Words>
  <Application>Microsoft Office PowerPoint</Application>
  <PresentationFormat>宽屏</PresentationFormat>
  <Paragraphs>238</Paragraphs>
  <Slides>39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等线</vt:lpstr>
      <vt:lpstr>MiSans</vt:lpstr>
      <vt:lpstr>Calibri</vt:lpstr>
      <vt:lpstr>Arial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通用疾病预测与落地应用答辩</dc:title>
  <dc:subject>通用疾病预测与落地应用答辩</dc:subject>
  <dc:creator>Kimi</dc:creator>
  <cp:lastModifiedBy>超文 赵</cp:lastModifiedBy>
  <cp:revision>6</cp:revision>
  <dcterms:created xsi:type="dcterms:W3CDTF">2025-09-04T06:37:45Z</dcterms:created>
  <dcterms:modified xsi:type="dcterms:W3CDTF">2025-09-04T09:01:12Z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{"Label":"通用疾病预测与落地应用答辩","ContentProducer":"001191110108MACG2KBH8F10000","ProduceID":"d2sj78ja9jtgtci7r4g0","ReservedCode1":"","ContentPropagator":"001191110108MACG2KBH8F20000","PropagateID":"d2sj78ja9jtgtci7r4g0","ReservedCode2":""}</vt:lpwstr>
  </property>
</Properties>
</file>